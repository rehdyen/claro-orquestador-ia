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Churners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DA5DA"/>
              </a:solidFill>
              <a:effectLst/>
            </c:spPr>
          </c:dPt>
          <c:dPt>
            <c:idx val="1"/>
            <c:bubble3D val="0"/>
            <c:spPr>
              <a:solidFill>
                <a:srgbClr val="FAA43A"/>
              </a:solidFill>
              <a:effectLst/>
            </c:spPr>
          </c:dPt>
          <c:dLbls>
            <c:dLbl>
              <c:idx val="0"/>
              <c:numFmt formatCode="#,##0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#,##0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Con intención previa</c:v>
                </c:pt>
                <c:pt idx="1">
                  <c:v>Sin intención registrada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52</c:v>
                </c:pt>
                <c:pt idx="1">
                  <c:v>52</c:v>
                </c:pt>
              </c:numCache>
            </c:numRef>
          </c:val>
        </c:ser>
        <c:firstSliceAng val="270"/>
        <c:holeSize val="5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sugerido:
Abrir con el propósito: este no es un modelo aislado ni un chatbot. Es un sistema para escuchar, predecir, explicar, gobernar y medir valor en Cluster 3.
[Sources]
- Artefactos del repositorio entregado: metricas_modelos.json, resumen_voz_cliente.json, shap_drivers.json, matriz_accionables_roi.md, databricks_blueprint.md.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sugerido:
Dedicar esta lámina al insight principal. La frase central: intención y churn no son equivalentes; por eso el modelado dual no es opcional.
[Sources]
- Artefactos del repositorio entregado: metricas_modelos.json, resumen_voz_cliente.json, shap_drivers.json, matriz_accionables_roi.md, databricks_blueprint.md.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sugerido:
Reforzar que se procesaron las 500 llamadas, no sólo Cluster 3. La comparación es lo que da valor: Cluster 3 tiene más negatividad y urgencia crítica.
[Sources]
- Artefactos del repositorio entregado: metricas_modelos.json, resumen_voz_cliente.json, shap_drivers.json, matriz_accionables_roi.md, databricks_blueprint.md.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sugerido:
Defender el control T0. Punto clave: el equipo detectó leakage real y lo removió, por eso las métricas posteriores son más creíbles.
[Sources]
- Artefactos del repositorio entregado: metricas_modelos.json, resumen_voz_cliente.json, shap_drivers.json, matriz_accionables_roi.md, databricks_blueprint.md.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sugerido:
Si preguntan por robustez: 20 evaluaciones CV, holdout blindado y bootstrap. No se usa accuracy porque con 0.52% churn sería engañosa.
[Sources]
- Artefactos del repositorio entregado: metricas_modelos.json, resumen_voz_cliente.json, shap_drivers.json, matriz_accionables_roi.md, databricks_blueprint.md.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sugerido:
Evitar decir causalidad. Usar: convergencia, evidencia, drivers del modelo, hipótesis operativa. SHAP explica el modelo; no prueba causalidad.
[Sources]
- Artefactos del repositorio entregado: metricas_modelos.json, resumen_voz_cliente.json, shap_drivers.json, matriz_accionables_roi.md, databricks_blueprint.md.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sugerido:
Explicar que los modelos predicen, pero no gobiernan decisiones. La capa agéntica agrega contexto, reglas y pausas humanas antes de decisiones sensibles.
[Sources]
- Artefactos del repositorio entregado: metricas_modelos.json, resumen_voz_cliente.json, shap_drivers.json, matriz_accionables_roi.md, databricks_blueprint.md.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sugerido:
Esta lámina prueba madurez: el agente no tiene libertad comercial. Hay catálogo, costos, umbrales y supervisión.
[Sources]
- Artefactos del repositorio entregado: metricas_modelos.json, resumen_voz_cliente.json, shap_drivers.json, matriz_accionables_roi.md, databricks_blueprint.md.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sugerido:
Usar esta versión corregida: ROI neto +1.50x para Top 500 con costo $12.500. Si preguntan, diferenciar retorno bruto/costo de ROI neto.
[Sources]
- Artefactos del repositorio entregado: metricas_modelos.json, resumen_voz_cliente.json, shap_drivers.json, matriz_accionables_roi.md, databricks_blueprint.md.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sugerido:
No vender como despliegue ya productivo. Decir: núcleo funcional implementado, blueprint de industrialización propuesto.
[Sources]
- Artefactos del repositorio entregado: metricas_modelos.json, resumen_voz_cliente.json, shap_drivers.json, matriz_accionables_roi.md, databricks_blueprint.md.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sugerido:
Cerrar con seguridad. No prometer producción real; decir que se implementó el núcleo funcional y se dejó el patrón industrial para Databricks.
[Sources]
- Artefactos del repositorio entregado: metricas_modelos.json, resumen_voz_cliente.json, shap_drivers.json, matriz_accionables_roi.md, databricks_blueprint.md.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09728"/>
            <a:ext cx="12191695" cy="0"/>
          </a:xfrm>
          <a:prstGeom prst="line">
            <a:avLst/>
          </a:prstGeom>
          <a:noFill/>
          <a:ln w="38100">
            <a:solidFill>
              <a:srgbClr val="D719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446520"/>
            <a:ext cx="4754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" dirty="0">
                <a:solidFill>
                  <a:srgbClr val="7D879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Claro Colombia | Gerencia de Analítica Avanzada | Uso Interno</a:t>
            </a:r>
            <a:endParaRPr lang="en-US" sz="580" dirty="0"/>
          </a:p>
        </p:txBody>
      </p:sp>
      <p:sp>
        <p:nvSpPr>
          <p:cNvPr id="4" name="Text 2"/>
          <p:cNvSpPr/>
          <p:nvPr/>
        </p:nvSpPr>
        <p:spPr>
          <a:xfrm>
            <a:off x="7315200" y="6446520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580" dirty="0">
                <a:solidFill>
                  <a:srgbClr val="7D879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Neydher Antonio Martin Ramos | Septiembre 2026</a:t>
            </a:r>
            <a:endParaRPr lang="en-US" sz="5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D87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D87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09728"/>
            <a:ext cx="12191695" cy="4572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9601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PROCESO DE SELECCIÓN · GERENCIA DE ANALÍTICA AVANZADA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9144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Sistema Multi-Agente y</a:t>
            </a:r>
            <a:endParaRPr lang="en-US" sz="3100" dirty="0"/>
          </a:p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Modelado Dual para Retención</a:t>
            </a:r>
            <a:endParaRPr lang="en-US" sz="3100" dirty="0"/>
          </a:p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Clientes Hogar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713232" y="2880360"/>
            <a:ext cx="8778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3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Detección temprana, explicación del riesgo y orquestación gobernada con Human-in-the-Loop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13232" y="3429000"/>
            <a:ext cx="1965960" cy="237744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Claro Colombia · Cluster 3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2852928" y="3429000"/>
            <a:ext cx="1234440" cy="237744"/>
          </a:xfrm>
          <a:prstGeom prst="rect">
            <a:avLst/>
          </a:prstGeom>
          <a:solidFill>
            <a:srgbClr val="243147"/>
          </a:solidFill>
          <a:ln>
            <a:solidFill>
              <a:srgbClr val="243147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21/21 tests PASS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251960" y="3429000"/>
            <a:ext cx="1188720" cy="237744"/>
          </a:xfrm>
          <a:prstGeom prst="rect">
            <a:avLst/>
          </a:prstGeom>
          <a:solidFill>
            <a:srgbClr val="243147"/>
          </a:solidFill>
          <a:ln>
            <a:solidFill>
              <a:srgbClr val="243147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público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13232" y="539496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9C2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Candidato: Neydher Antonio Martin Ramos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9C2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Evaluador: Rafael José Del Castillo Pavajeau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B9C2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Septiembre 2026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8229600" y="4800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Tesis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229600" y="507492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basta con retener al cliente que llama a cancelar. El sistema debe detectar también la fuga silenciosa y gobernar la acción correcta.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D87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320040" cy="256032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6868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HALLAZGO CENTRAL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0972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Silent Churn Gap: intención no equivale a churn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los 104 desertores reales, 52 no registraron intención previa.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480060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sx="100000" sy="100000" kx="0" ky="0" algn="bl" rotWithShape="0" blurRad="19050" dist="8890" dir="270000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960120" y="1965960"/>
          <a:ext cx="2423160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3429000" y="1920240"/>
            <a:ext cx="1417320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104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3429000" y="2403043"/>
            <a:ext cx="1417320" cy="4526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churns reales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observados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3429000" y="3063240"/>
            <a:ext cx="141732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719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52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3429000" y="3480206"/>
            <a:ext cx="1417320" cy="39090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 intención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previa</a:t>
            </a:r>
            <a:endParaRPr lang="en-US" sz="880" dirty="0"/>
          </a:p>
        </p:txBody>
      </p:sp>
      <p:sp>
        <p:nvSpPr>
          <p:cNvPr id="12" name="Text 9"/>
          <p:cNvSpPr/>
          <p:nvPr/>
        </p:nvSpPr>
        <p:spPr>
          <a:xfrm>
            <a:off x="3429000" y="4069080"/>
            <a:ext cx="141732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5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52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3429000" y="4486046"/>
            <a:ext cx="1417320" cy="39090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intención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registrada</a:t>
            </a:r>
            <a:endParaRPr lang="en-US" sz="880" dirty="0"/>
          </a:p>
        </p:txBody>
      </p:sp>
      <p:sp>
        <p:nvSpPr>
          <p:cNvPr id="14" name="Text 11"/>
          <p:cNvSpPr/>
          <p:nvPr/>
        </p:nvSpPr>
        <p:spPr>
          <a:xfrm>
            <a:off x="5715000" y="1600200"/>
            <a:ext cx="580644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sx="100000" sy="100000" kx="0" ky="0" algn="bl" rotWithShape="0" blurRad="19050" dist="8890" dir="270000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6080760" y="1901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Implicación de negocio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080760" y="2331720"/>
            <a:ext cx="4800600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250" b="1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estrategia basada sólo en llamadas de cancelación deja fuera 50% del churn observado.
</a:t>
            </a:r>
            <a:endParaRPr lang="en-US" sz="1250" dirty="0"/>
          </a:p>
          <a:p>
            <a:r>
              <a:rPr lang="en-US" sz="12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 B detecta intención explícita y ayuda a intervenir temprano.
</a:t>
            </a:r>
            <a:endParaRPr lang="en-US" sz="1250" dirty="0"/>
          </a:p>
          <a:p>
            <a:r>
              <a:rPr lang="en-US" sz="12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 A captura fuga efectiva, incluyendo patrones silenciosos.
</a:t>
            </a:r>
            <a:endParaRPr lang="en-US" sz="1250" dirty="0"/>
          </a:p>
          <a:p>
            <a:r>
              <a:rPr lang="en-US" sz="12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orquestador decide la acción y activa revisión humana cuando existe riesgo financiero o evidencia insuficiente.
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080760" y="48006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Mensaje clave para Rafael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080760" y="507492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Dos modelos no son sobre-ingeniería: responden a dos rutas distintas de fuga.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D87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320040" cy="256032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6868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VOZ DEL CLIENTE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0972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VoC: 500 llamadas procesadas y contraste real de Cluster 3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voz del cliente no se une 1:1 con clientes; se usa a nivel clúster y arquetipos.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94360" y="1508760"/>
            <a:ext cx="38862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sx="100000" sy="100000" kx="0" ky="0" algn="bl" rotWithShape="0" blurRad="19050" dist="8890" dir="270000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14400" y="17830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Cluster 3 · motivos dominantes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2240280"/>
            <a:ext cx="3154680" cy="274320"/>
          </a:xfrm>
          <a:prstGeom prst="rect">
            <a:avLst/>
          </a:prstGeom>
          <a:solidFill>
            <a:srgbClr val="FDECEC"/>
          </a:solidFill>
          <a:ln w="6350">
            <a:solidFill>
              <a:srgbClr val="FAD2D5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Precio y competencia  ·  37.54%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14400" y="2660904"/>
            <a:ext cx="3154680" cy="274320"/>
          </a:xfrm>
          <a:prstGeom prst="rect">
            <a:avLst/>
          </a:prstGeom>
          <a:solidFill>
            <a:srgbClr val="F8FAFC"/>
          </a:solidFill>
          <a:ln w="6350">
            <a:solidFill>
              <a:srgbClr val="E8EDF3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Falla técnica  ·  24.60%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14400" y="3081528"/>
            <a:ext cx="3154680" cy="274320"/>
          </a:xfrm>
          <a:prstGeom prst="rect">
            <a:avLst/>
          </a:prstGeom>
          <a:solidFill>
            <a:srgbClr val="F8FAFC"/>
          </a:solidFill>
          <a:ln w="6350">
            <a:solidFill>
              <a:srgbClr val="E8EDF3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Mudanza y traslado  ·  19.09%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14400" y="3502152"/>
            <a:ext cx="3154680" cy="274320"/>
          </a:xfrm>
          <a:prstGeom prst="rect">
            <a:avLst/>
          </a:prstGeom>
          <a:solidFill>
            <a:srgbClr val="F8FAFC"/>
          </a:solidFill>
          <a:ln w="6350">
            <a:solidFill>
              <a:srgbClr val="E8EDF3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UNRESOLVED  ·  9.39%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14400" y="3922776"/>
            <a:ext cx="3154680" cy="274320"/>
          </a:xfrm>
          <a:prstGeom prst="rect">
            <a:avLst/>
          </a:prstGeom>
          <a:solidFill>
            <a:srgbClr val="F8FAFC"/>
          </a:solidFill>
          <a:ln w="6350">
            <a:solidFill>
              <a:srgbClr val="E8EDF3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Facturación y cobros  ·  8.74%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14400" y="48920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Contraste vs. otros clústeres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14400" y="513892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+4.18 pp falla técnica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+7.44 pp sentimiento negativo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+5.09 pp urgencia crítica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709160" y="1508760"/>
            <a:ext cx="672084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sx="100000" sy="100000" kx="0" ky="0" algn="bl" rotWithShape="0" blurRad="19050" dist="8890" dir="270000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6" name="Image 0" descr="/mnt/data/sol_audit/code/outputs/figures/nlp_cluster3_contr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83480" y="2478677"/>
            <a:ext cx="6217920" cy="222068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4983480" y="544068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Figura real exportada del pipeline NLP: outputs/figures/nlp_cluster3_contrast.png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D87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320040" cy="256032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6868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ESTRATEGIA PREDICTIVA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0972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Modelado dual con control estricto de fuga T0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108 variables predictoras ex-ante; targets, leakage y post-treatment excluidos del entrenamiento.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94360" y="1508760"/>
            <a:ext cx="52578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sx="100000" sy="100000" kx="0" ky="0" algn="bl" rotWithShape="0" blurRad="19050" dist="8890" dir="270000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14400" y="1810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719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Modelo A · BAN_CHURN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 final de fuga efectiva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" y="2514600"/>
            <a:ext cx="434340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08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Prevalencia: 0.52% (104 casos).
</a:t>
            </a:r>
            <a:endParaRPr lang="en-US" sz="1080" dirty="0"/>
          </a:p>
          <a:p>
            <a:r>
              <a:rPr lang="en-US" sz="108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RepeatedStratifiedKFold: 4 folds x 5 repeats.
</a:t>
            </a:r>
            <a:endParaRPr lang="en-US" sz="1080" dirty="0"/>
          </a:p>
          <a:p>
            <a:r>
              <a:rPr lang="en-US" sz="108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Optimización por PR-AUC y lectura ejecutiva por Lift@10/20.
</a:t>
            </a:r>
            <a:endParaRPr lang="en-US" sz="1080" dirty="0"/>
          </a:p>
          <a:p>
            <a:r>
              <a:rPr lang="en-US" sz="108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Detecta fuga silenciosa no observable desde llamadas de intención.
</a:t>
            </a:r>
            <a:endParaRPr lang="en-US" sz="1080" dirty="0"/>
          </a:p>
        </p:txBody>
      </p:sp>
      <p:sp>
        <p:nvSpPr>
          <p:cNvPr id="10" name="Text 8"/>
          <p:cNvSpPr/>
          <p:nvPr/>
        </p:nvSpPr>
        <p:spPr>
          <a:xfrm>
            <a:off x="914400" y="44622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Modelo B · BAN_INTENCION_CANCELACION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473659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Señal operacional temprana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14400" y="5074920"/>
            <a:ext cx="429768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08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Prevalencia: 19.91%.
</a:t>
            </a:r>
            <a:endParaRPr lang="en-US" sz="1080" dirty="0"/>
          </a:p>
          <a:p>
            <a:r>
              <a:rPr lang="en-US" sz="108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5-Fold Stratified CV.
</a:t>
            </a:r>
            <a:endParaRPr lang="en-US" sz="1080" dirty="0"/>
          </a:p>
          <a:p>
            <a:r>
              <a:rPr lang="en-US" sz="108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priorizar prevención y atención temprana.
</a:t>
            </a:r>
            <a:endParaRPr lang="en-US" sz="1080" dirty="0"/>
          </a:p>
        </p:txBody>
      </p:sp>
      <p:sp>
        <p:nvSpPr>
          <p:cNvPr id="13" name="Text 11"/>
          <p:cNvSpPr/>
          <p:nvPr/>
        </p:nvSpPr>
        <p:spPr>
          <a:xfrm>
            <a:off x="6172200" y="1508760"/>
            <a:ext cx="52578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sx="100000" sy="100000" kx="0" ky="0" algn="bl" rotWithShape="0" blurRad="19050" dist="8890" dir="270000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92240" y="181051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Auditoría T0 / Leakage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0" y="2286000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8E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108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400800" y="2724912"/>
            <a:ext cx="146304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predictoras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legítimas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8092440" y="228600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719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1.000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8092440" y="2724912"/>
            <a:ext cx="18288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correlación detectada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ESTADO_FUENTE_C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10058400" y="2286000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8E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10058400" y="2724912"/>
            <a:ext cx="123444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features con leakage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conocido al final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6492240" y="365760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Variables excluidas del baseline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492240" y="3977640"/>
            <a:ext cx="43891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08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leakage: motivos/intenciones/reincidencias y ESTADO_FUENTE_C.
</a:t>
            </a:r>
            <a:endParaRPr lang="en-US" sz="1080" dirty="0"/>
          </a:p>
          <a:p>
            <a:r>
              <a:rPr lang="en-US" sz="108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Post-treatment: retención activa, campañas, OT de desconexión.
</a:t>
            </a:r>
            <a:endParaRPr lang="en-US" sz="1080" dirty="0"/>
          </a:p>
          <a:p>
            <a:r>
              <a:rPr lang="en-US" sz="108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Identifiers y variables temporalmente inciertas.
</a:t>
            </a:r>
            <a:endParaRPr lang="en-US" sz="10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D87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320040" cy="256032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6868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RIGOR ESTADÍSTICO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0972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ranking concentra el riesgo: Lift@10 = 9.05x en churn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se optimiza accuracy; se evalúa capacidad de priorizar los clientes de mayor riesgo.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94360" y="1508760"/>
            <a:ext cx="493776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sx="100000" sy="100000" kx="0" ky="0" algn="bl" rotWithShape="0" blurRad="19050" dist="8890" dir="270000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14400" y="18105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Métricas Holdout final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914400" y="2331720"/>
            <a:ext cx="4160520" cy="256032"/>
          </a:xfrm>
          <a:prstGeom prst="rect">
            <a:avLst/>
          </a:prstGeom>
          <a:solidFill>
            <a:srgbClr val="152033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        PR-AUC     Lift@10     ROC-AUC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0" y="2651760"/>
            <a:ext cx="4160520" cy="274320"/>
          </a:xfrm>
          <a:prstGeom prst="rect">
            <a:avLst/>
          </a:prstGeom>
          <a:solidFill>
            <a:srgbClr val="FFF7F7"/>
          </a:solidFill>
          <a:ln w="6350">
            <a:solidFill>
              <a:srgbClr val="FAD2D5"/>
            </a:solidFill>
          </a:ln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· Churn     0.4738     9.048x      0.9569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14400" y="2990088"/>
            <a:ext cx="4160520" cy="274320"/>
          </a:xfrm>
          <a:prstGeom prst="rect">
            <a:avLst/>
          </a:prstGeom>
          <a:solidFill>
            <a:srgbClr val="F8FAFC"/>
          </a:solidFill>
          <a:ln w="6350">
            <a:solidFill>
              <a:srgbClr val="E8EDF3"/>
            </a:solidFill>
          </a:ln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· Intención 0.6278     3.812x      0.8248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14400" y="37033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 ejecutiva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4023360"/>
            <a:ext cx="416052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0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 A: identifica una población prioritaria 9 veces más densa en churn que el promedio.
</a:t>
            </a:r>
            <a:endParaRPr lang="en-US" sz="1050" dirty="0"/>
          </a:p>
          <a:p>
            <a:r>
              <a:rPr lang="en-US" sz="10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 B: detecta señales explícitas de intención para intervención temprana.
</a:t>
            </a:r>
            <a:endParaRPr lang="en-US" sz="1050" dirty="0"/>
          </a:p>
          <a:p>
            <a:r>
              <a:rPr lang="en-US" sz="10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Bootstrap IC 95% incluido para reconocer incertidumbre estadística.
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760720" y="1508760"/>
            <a:ext cx="56692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sx="100000" sy="100000" kx="0" ky="0" algn="bl" rotWithShape="0" blurRad="19050" dist="8890" dir="270000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4" name="Image 0" descr="/mnt/data/sol_audit/code/outputs/figures/lift_and_pr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537460"/>
            <a:ext cx="5257800" cy="210312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5989320" y="544068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Figura real: outputs/figures/lift_and_pr_curves.png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D87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320040" cy="256032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6868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EXPLICABILIDAD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0972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Convergencia de evidencia: SHAP + Voz del Cliente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se afirma causalidad; se construyen hipótesis operativas soportadas por dos fuentes independientes.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94360" y="150876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sx="100000" sy="100000" kx="0" ky="0" algn="bl" rotWithShape="0" blurRad="19050" dist="8890" dir="270000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14400" y="17830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719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Drivers Modelo A · Churn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2148840"/>
            <a:ext cx="23774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1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VAL_RECLAMOS_MES
</a:t>
            </a:r>
            <a:endParaRPr lang="en-US" sz="1150" dirty="0"/>
          </a:p>
          <a:p>
            <a:r>
              <a:rPr lang="en-US" sz="11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VELOCIDAD_INTERNET_MBPS
</a:t>
            </a:r>
            <a:endParaRPr lang="en-US" sz="1150" dirty="0"/>
          </a:p>
          <a:p>
            <a:r>
              <a:rPr lang="en-US" sz="11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VAL_RENTA_ACTUAL
</a:t>
            </a:r>
            <a:endParaRPr lang="en-US" sz="1150" dirty="0"/>
          </a:p>
          <a:p>
            <a:r>
              <a:rPr lang="en-US" sz="115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VAL_VAR_RENTA
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14400" y="33375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dijo VoC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14400" y="3611880"/>
            <a:ext cx="356616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08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Precio / competencia: 37.54%.
</a:t>
            </a:r>
            <a:endParaRPr lang="en-US" sz="1080" dirty="0"/>
          </a:p>
          <a:p>
            <a:r>
              <a:rPr lang="en-US" sz="108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Falla técnica: 24.60%.
</a:t>
            </a:r>
            <a:endParaRPr lang="en-US" sz="1080" dirty="0"/>
          </a:p>
          <a:p>
            <a:r>
              <a:rPr lang="en-US" sz="108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Mayor negatividad y urgencia crítica en Cluster 3.
</a:t>
            </a:r>
            <a:endParaRPr lang="en-US" sz="1080" dirty="0"/>
          </a:p>
        </p:txBody>
      </p:sp>
      <p:sp>
        <p:nvSpPr>
          <p:cNvPr id="11" name="Text 9"/>
          <p:cNvSpPr/>
          <p:nvPr/>
        </p:nvSpPr>
        <p:spPr>
          <a:xfrm>
            <a:off x="914400" y="48920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Conclusión defendible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5166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Las fuentes no se cruzan 1:1, pero convergen en patrones de precio y experiencia técnica.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40680" y="1508760"/>
            <a:ext cx="598932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sx="100000" sy="100000" kx="0" ky="0" algn="bl" rotWithShape="0" blurRad="19050" dist="8890" dir="270000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4" name="Image 0" descr="/mnt/data/sol_audit/code/outputs/figures/shap_beeswarm_model_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7376" y="1719072"/>
            <a:ext cx="3950208" cy="370332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5669280" y="565099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Figura real: outputs/figures/shap_beeswarm_model_a.png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D87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320040" cy="256032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6868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ORQUESTACIÓN MULTI-AGENTE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0972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LangGraph convierte evidencia analítica en decisión gobernada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agentes consumen activos ya validados: no reentrenan modelos ni reprocesan llamadas.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85800" y="1691640"/>
            <a:ext cx="205740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sx="100000" sy="100000" kx="0" ky="0" algn="bl" rotWithShape="0" blurRad="19050" dist="8890" dir="270000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0392" y="1938528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Intelligence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50392" y="2788920"/>
            <a:ext cx="169164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Scores A/B, deciles, SHAP local y patrón de riesgo.</a:t>
            </a:r>
            <a:endParaRPr lang="en-US" sz="1030" dirty="0"/>
          </a:p>
        </p:txBody>
      </p:sp>
      <p:sp>
        <p:nvSpPr>
          <p:cNvPr id="9" name="Text 7"/>
          <p:cNvSpPr/>
          <p:nvPr/>
        </p:nvSpPr>
        <p:spPr>
          <a:xfrm>
            <a:off x="850392" y="4160520"/>
            <a:ext cx="1051560" cy="237744"/>
          </a:xfrm>
          <a:prstGeom prst="rect">
            <a:avLst/>
          </a:prstGeom>
          <a:solidFill>
            <a:srgbClr val="EEF1F5"/>
          </a:solidFill>
          <a:ln>
            <a:solidFill>
              <a:srgbClr val="EEF1F5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 USE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54680" y="1691640"/>
            <a:ext cx="205740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sx="100000" sy="100000" kx="0" ky="0" algn="bl" rotWithShape="0" blurRad="19050" dist="8890" dir="270000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319272" y="1938528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VoC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319272" y="2788920"/>
            <a:ext cx="169164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Resumen de voz del cliente a nivel Cluster 3/arquetipo.</a:t>
            </a:r>
            <a:endParaRPr lang="en-US" sz="1030" dirty="0"/>
          </a:p>
        </p:txBody>
      </p:sp>
      <p:sp>
        <p:nvSpPr>
          <p:cNvPr id="13" name="Text 11"/>
          <p:cNvSpPr/>
          <p:nvPr/>
        </p:nvSpPr>
        <p:spPr>
          <a:xfrm>
            <a:off x="3319272" y="4160520"/>
            <a:ext cx="1051560" cy="237744"/>
          </a:xfrm>
          <a:prstGeom prst="rect">
            <a:avLst/>
          </a:prstGeom>
          <a:solidFill>
            <a:srgbClr val="EEF1F5"/>
          </a:solidFill>
          <a:ln>
            <a:solidFill>
              <a:srgbClr val="EEF1F5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 USE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623560" y="1691640"/>
            <a:ext cx="205740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sx="100000" sy="100000" kx="0" ky="0" algn="bl" rotWithShape="0" blurRad="19050" dist="8890" dir="270000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788152" y="1938528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Retention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Orchestrator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788152" y="2788920"/>
            <a:ext cx="169164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Selecciona acción del catálogo y calcula impacto esperado.</a:t>
            </a:r>
            <a:endParaRPr lang="en-US" sz="1030" dirty="0"/>
          </a:p>
        </p:txBody>
      </p:sp>
      <p:sp>
        <p:nvSpPr>
          <p:cNvPr id="17" name="Text 15"/>
          <p:cNvSpPr/>
          <p:nvPr/>
        </p:nvSpPr>
        <p:spPr>
          <a:xfrm>
            <a:off x="5788152" y="4160520"/>
            <a:ext cx="1051560" cy="237744"/>
          </a:xfrm>
          <a:prstGeom prst="rect">
            <a:avLst/>
          </a:prstGeom>
          <a:solidFill>
            <a:srgbClr val="EEF1F5"/>
          </a:solidFill>
          <a:ln>
            <a:solidFill>
              <a:srgbClr val="EEF1F5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 USE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092440" y="1691640"/>
            <a:ext cx="2057400" cy="2971800"/>
          </a:xfrm>
          <a:prstGeom prst="rect">
            <a:avLst/>
          </a:prstGeom>
          <a:solidFill>
            <a:srgbClr val="FFF1F2"/>
          </a:solidFill>
          <a:ln w="12700">
            <a:solidFill>
              <a:srgbClr val="D8DEE6"/>
            </a:solidFill>
          </a:ln>
          <a:effectLst>
            <a:outerShdw sx="100000" sy="100000" kx="0" ky="0" algn="bl" rotWithShape="0" blurRad="19050" dist="8890" dir="270000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257032" y="1938528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D719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HITL /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D719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Judge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57032" y="2788920"/>
            <a:ext cx="169164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 reglas, retry máximo 1 y revisión humana.</a:t>
            </a:r>
            <a:endParaRPr lang="en-US" sz="1030" dirty="0"/>
          </a:p>
        </p:txBody>
      </p:sp>
      <p:sp>
        <p:nvSpPr>
          <p:cNvPr id="21" name="Text 19"/>
          <p:cNvSpPr/>
          <p:nvPr/>
        </p:nvSpPr>
        <p:spPr>
          <a:xfrm>
            <a:off x="8257032" y="4160520"/>
            <a:ext cx="1051560" cy="237744"/>
          </a:xfrm>
          <a:prstGeom prst="rect">
            <a:avLst/>
          </a:prstGeom>
          <a:solidFill>
            <a:srgbClr val="FDECEC"/>
          </a:solidFill>
          <a:ln>
            <a:solidFill>
              <a:srgbClr val="FDEC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GOBIERNO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77240" y="525780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StateGraph: validate → parallel agents → merge evidence → orchestrate → guardrails → judge → HITL/finalize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160520" y="57150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8E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18/18 pruebas de Gate 3 + 21/21 suite final PASS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D87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320040" cy="256032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6868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GOBERNANZA DE ACCIONES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0972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recomendación no es “descontar”: es elegir la acción correcta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sistema evita canibalizar margen cuando la causa dominante es técnica.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94360" y="1508760"/>
            <a:ext cx="534924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sx="100000" sy="100000" kx="0" ky="0" algn="bl" rotWithShape="0" blurRad="19050" dist="8890" dir="270000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14400" y="18105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719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Reglas no negociables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240280"/>
            <a:ext cx="438912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12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Financieras o contractuales: siempre HITL.
</a:t>
            </a:r>
            <a:endParaRPr lang="en-US" sz="1120" dirty="0"/>
          </a:p>
          <a:p>
            <a:r>
              <a:rPr lang="en-US" sz="112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VIP en deciles 1–2: siempre HITL.
</a:t>
            </a:r>
            <a:endParaRPr lang="en-US" sz="1120" dirty="0"/>
          </a:p>
          <a:p>
            <a:r>
              <a:rPr lang="en-US" sz="112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Silent Churn Pattern: revisión humana obligatoria.
</a:t>
            </a:r>
            <a:endParaRPr lang="en-US" sz="1120" dirty="0"/>
          </a:p>
          <a:p>
            <a:r>
              <a:rPr lang="en-US" sz="112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Descuento &gt;20%: Senior Review.
</a:t>
            </a:r>
            <a:endParaRPr lang="en-US" sz="1120" dirty="0"/>
          </a:p>
          <a:p>
            <a:r>
              <a:rPr lang="en-US" sz="112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Falla técnica pura: visita prioritaria sin descuento forzado.
</a:t>
            </a:r>
            <a:endParaRPr lang="en-US" sz="1120" dirty="0"/>
          </a:p>
          <a:p>
            <a:r>
              <a:rPr lang="en-US" sz="112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 insuficiente: abstención.
</a:t>
            </a:r>
            <a:endParaRPr lang="en-US" sz="1120" dirty="0"/>
          </a:p>
        </p:txBody>
      </p:sp>
      <p:sp>
        <p:nvSpPr>
          <p:cNvPr id="9" name="Text 7"/>
          <p:cNvSpPr/>
          <p:nvPr/>
        </p:nvSpPr>
        <p:spPr>
          <a:xfrm>
            <a:off x="914400" y="49834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Principio de gobierno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14400" y="52578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Falla técnica ≠ rebaja comercial automática.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263640" y="1508760"/>
            <a:ext cx="516636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sx="100000" sy="100000" kx="0" ky="0" algn="bl" rotWithShape="0" blurRad="19050" dist="8890" dir="270000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583680" y="18105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Catálogo de acciones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83680" y="2240280"/>
            <a:ext cx="4251960" cy="237744"/>
          </a:xfrm>
          <a:prstGeom prst="rect">
            <a:avLst/>
          </a:prstGeom>
          <a:solidFill>
            <a:srgbClr val="152033"/>
          </a:solidFill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Acción · costo · uso</a:t>
            </a:r>
            <a:endParaRPr lang="en-US" sz="860" dirty="0"/>
          </a:p>
        </p:txBody>
      </p:sp>
      <p:sp>
        <p:nvSpPr>
          <p:cNvPr id="14" name="Text 12"/>
          <p:cNvSpPr/>
          <p:nvPr/>
        </p:nvSpPr>
        <p:spPr>
          <a:xfrm>
            <a:off x="6583680" y="2542032"/>
            <a:ext cx="4251960" cy="256032"/>
          </a:xfrm>
          <a:prstGeom prst="rect">
            <a:avLst/>
          </a:prstGeom>
          <a:solidFill>
            <a:srgbClr val="F8FAFC"/>
          </a:solidFill>
          <a:ln w="5080">
            <a:solidFill>
              <a:srgbClr val="E8EDF3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PRIORITY_TECH_VISIT · $35k · Red / reclamos</a:t>
            </a:r>
            <a:endParaRPr lang="en-US" sz="740" dirty="0"/>
          </a:p>
        </p:txBody>
      </p:sp>
      <p:sp>
        <p:nvSpPr>
          <p:cNvPr id="15" name="Text 13"/>
          <p:cNvSpPr/>
          <p:nvPr/>
        </p:nvSpPr>
        <p:spPr>
          <a:xfrm>
            <a:off x="6583680" y="2834640"/>
            <a:ext cx="425196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E8EDF3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SPEED_UPGRADE · $15k · Baja velocidad</a:t>
            </a:r>
            <a:endParaRPr lang="en-US" sz="740" dirty="0"/>
          </a:p>
        </p:txBody>
      </p:sp>
      <p:sp>
        <p:nvSpPr>
          <p:cNvPr id="16" name="Text 14"/>
          <p:cNvSpPr/>
          <p:nvPr/>
        </p:nvSpPr>
        <p:spPr>
          <a:xfrm>
            <a:off x="6583680" y="3127248"/>
            <a:ext cx="4251960" cy="256032"/>
          </a:xfrm>
          <a:prstGeom prst="rect">
            <a:avLst/>
          </a:prstGeom>
          <a:solidFill>
            <a:srgbClr val="F8FAFC"/>
          </a:solidFill>
          <a:ln w="5080">
            <a:solidFill>
              <a:srgbClr val="E8EDF3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TEMP_RENT_DISCOUNT · 10–20% · Precio · HITL</a:t>
            </a:r>
            <a:endParaRPr lang="en-US" sz="740" dirty="0"/>
          </a:p>
        </p:txBody>
      </p:sp>
      <p:sp>
        <p:nvSpPr>
          <p:cNvPr id="17" name="Text 15"/>
          <p:cNvSpPr/>
          <p:nvPr/>
        </p:nvSpPr>
        <p:spPr>
          <a:xfrm>
            <a:off x="6583680" y="3419856"/>
            <a:ext cx="425196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E8EDF3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LOYALTY_BONUS · $22k · Caza oferta</a:t>
            </a:r>
            <a:endParaRPr lang="en-US" sz="740" dirty="0"/>
          </a:p>
        </p:txBody>
      </p:sp>
      <p:sp>
        <p:nvSpPr>
          <p:cNvPr id="18" name="Text 16"/>
          <p:cNvSpPr/>
          <p:nvPr/>
        </p:nvSpPr>
        <p:spPr>
          <a:xfrm>
            <a:off x="6583680" y="3712464"/>
            <a:ext cx="4251960" cy="256032"/>
          </a:xfrm>
          <a:prstGeom prst="rect">
            <a:avLst/>
          </a:prstGeom>
          <a:solidFill>
            <a:srgbClr val="F8FAFC"/>
          </a:solidFill>
          <a:ln w="5080">
            <a:solidFill>
              <a:srgbClr val="E8EDF3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PREVENTIVE_DIAGNOSTIC · $8k · Silent churn</a:t>
            </a:r>
            <a:endParaRPr lang="en-US" sz="740" dirty="0"/>
          </a:p>
        </p:txBody>
      </p:sp>
      <p:sp>
        <p:nvSpPr>
          <p:cNvPr id="19" name="Text 17"/>
          <p:cNvSpPr/>
          <p:nvPr/>
        </p:nvSpPr>
        <p:spPr>
          <a:xfrm>
            <a:off x="6583680" y="4005072"/>
            <a:ext cx="425196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E8EDF3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ABSTAIN_NO_ACTION · $0 · Riesgo bajo</a:t>
            </a:r>
            <a:endParaRPr lang="en-US" sz="740" dirty="0"/>
          </a:p>
        </p:txBody>
      </p:sp>
      <p:sp>
        <p:nvSpPr>
          <p:cNvPr id="20" name="Text 18"/>
          <p:cNvSpPr/>
          <p:nvPr/>
        </p:nvSpPr>
        <p:spPr>
          <a:xfrm>
            <a:off x="6583680" y="4800600"/>
            <a:ext cx="4251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D719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Las acciones fuera de catálogo se bloquean o escalan.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D87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320040" cy="256032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6868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VALOR ECONÓMICO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0972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ROI: cálculo por tasa empírica de decil, no probabilidad cruda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evita usar scores no calibrados de LightGBM como probabilidad financiera.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94360" y="1508760"/>
            <a:ext cx="516636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sx="100000" sy="100000" kx="0" ky="0" algn="bl" rotWithShape="0" blurRad="19050" dist="8890" dir="270000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14400" y="18105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Decil 1 · universo focalizado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33172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719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2,000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868680" y="2770632"/>
            <a:ext cx="13716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clientes en top 10%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riesgo</a:t>
            </a:r>
            <a:endParaRPr lang="en-US" sz="880" dirty="0"/>
          </a:p>
        </p:txBody>
      </p:sp>
      <p:sp>
        <p:nvSpPr>
          <p:cNvPr id="10" name="Text 8"/>
          <p:cNvSpPr/>
          <p:nvPr/>
        </p:nvSpPr>
        <p:spPr>
          <a:xfrm>
            <a:off x="2514600" y="2331720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5.19%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514600" y="2770632"/>
            <a:ext cx="1600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tasa empírica de churn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Decil 1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4343400" y="2331720"/>
            <a:ext cx="1143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$96k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343400" y="2770632"/>
            <a:ext cx="11430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ARPU promedio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mensual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914400" y="374904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Escenario base de uplift incremental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914400" y="4041648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20.8 clientes salvados → $24.0M COP anuales brutos protegidos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914400" y="498348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efectividad se presenta como escenario, no como resultado observado.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080760" y="1508760"/>
            <a:ext cx="534924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sx="100000" sy="100000" kx="0" ky="0" algn="bl" rotWithShape="0" blurRad="19050" dist="8890" dir="270000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00800" y="18105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Triaje selectivo Top 500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0" y="2331720"/>
            <a:ext cx="4251960" cy="292608"/>
          </a:xfrm>
          <a:prstGeom prst="rect">
            <a:avLst/>
          </a:prstGeom>
          <a:solidFill>
            <a:srgbClr val="F8FAFC"/>
          </a:solidFill>
          <a:ln w="6350">
            <a:solidFill>
              <a:srgbClr val="E8EDF3"/>
            </a:solidFill>
          </a:ln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Costo promedio: $12,500 / cliente</a:t>
            </a:r>
            <a:endParaRPr lang="en-US" sz="940" dirty="0"/>
          </a:p>
        </p:txBody>
      </p:sp>
      <p:sp>
        <p:nvSpPr>
          <p:cNvPr id="20" name="Text 18"/>
          <p:cNvSpPr/>
          <p:nvPr/>
        </p:nvSpPr>
        <p:spPr>
          <a:xfrm>
            <a:off x="6400800" y="2697480"/>
            <a:ext cx="425196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3"/>
            </a:solidFill>
          </a:ln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Inversión Top 500: $6.25M COP</a:t>
            </a:r>
            <a:endParaRPr lang="en-US" sz="940" dirty="0"/>
          </a:p>
        </p:txBody>
      </p:sp>
      <p:sp>
        <p:nvSpPr>
          <p:cNvPr id="21" name="Text 19"/>
          <p:cNvSpPr/>
          <p:nvPr/>
        </p:nvSpPr>
        <p:spPr>
          <a:xfrm>
            <a:off x="6400800" y="3063240"/>
            <a:ext cx="4251960" cy="292608"/>
          </a:xfrm>
          <a:prstGeom prst="rect">
            <a:avLst/>
          </a:prstGeom>
          <a:solidFill>
            <a:srgbClr val="F8FAFC"/>
          </a:solidFill>
          <a:ln w="6350">
            <a:solidFill>
              <a:srgbClr val="E8EDF3"/>
            </a:solidFill>
          </a:ln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Ingreso bruto salvado base: $15.62M COP</a:t>
            </a:r>
            <a:endParaRPr lang="en-US" sz="940" dirty="0"/>
          </a:p>
        </p:txBody>
      </p:sp>
      <p:sp>
        <p:nvSpPr>
          <p:cNvPr id="22" name="Text 20"/>
          <p:cNvSpPr/>
          <p:nvPr/>
        </p:nvSpPr>
        <p:spPr>
          <a:xfrm>
            <a:off x="6400800" y="3429000"/>
            <a:ext cx="425196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3"/>
            </a:solidFill>
          </a:ln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Beneficio neto: $9.37M COP</a:t>
            </a:r>
            <a:endParaRPr lang="en-US" sz="940" dirty="0"/>
          </a:p>
        </p:txBody>
      </p:sp>
      <p:sp>
        <p:nvSpPr>
          <p:cNvPr id="23" name="Text 21"/>
          <p:cNvSpPr/>
          <p:nvPr/>
        </p:nvSpPr>
        <p:spPr>
          <a:xfrm>
            <a:off x="6400800" y="3794760"/>
            <a:ext cx="4251960" cy="292608"/>
          </a:xfrm>
          <a:prstGeom prst="rect">
            <a:avLst/>
          </a:prstGeom>
          <a:solidFill>
            <a:srgbClr val="FDECEC"/>
          </a:solidFill>
          <a:ln w="6350">
            <a:solidFill>
              <a:srgbClr val="FAD2D5"/>
            </a:solidFill>
          </a:ln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ROI neto: +1.50x</a:t>
            </a:r>
            <a:endParaRPr lang="en-US" sz="940" dirty="0"/>
          </a:p>
        </p:txBody>
      </p:sp>
      <p:sp>
        <p:nvSpPr>
          <p:cNvPr id="24" name="Text 22"/>
          <p:cNvSpPr/>
          <p:nvPr/>
        </p:nvSpPr>
        <p:spPr>
          <a:xfrm>
            <a:off x="6400800" y="470916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Mensaje financiero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400800" y="4983480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valor no está en intervenir masivamente, sino en reducir costo promedio con decisiones de triaje.</a:t>
            </a:r>
            <a:endParaRPr lang="en-US" sz="12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D87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320040" cy="256032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6868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PRODUCTIVIZACIÓN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0972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Blueprint en Azure Databricks: del prototipo a operación industrial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Delta Lake, MLflow, Unity Catalog, Workflows y monitoreo de drift/modelos/agentes.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94360" y="1737360"/>
            <a:ext cx="19659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sx="100000" sy="100000" kx="0" ky="0" algn="bl" rotWithShape="0" blurRad="19050" dist="8890" dir="270000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58952" y="201168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Bronze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58952" y="2542032"/>
            <a:ext cx="1600200" cy="1325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Clientes, llamadas y diccionario en Delta raw con batch_id y hash de fuente.</a:t>
            </a:r>
            <a:endParaRPr lang="en-US" sz="930" dirty="0"/>
          </a:p>
        </p:txBody>
      </p:sp>
      <p:sp>
        <p:nvSpPr>
          <p:cNvPr id="9" name="Text 7"/>
          <p:cNvSpPr/>
          <p:nvPr/>
        </p:nvSpPr>
        <p:spPr>
          <a:xfrm>
            <a:off x="758952" y="4251960"/>
            <a:ext cx="1234440" cy="237744"/>
          </a:xfrm>
          <a:prstGeom prst="rect">
            <a:avLst/>
          </a:prstGeom>
          <a:solidFill>
            <a:srgbClr val="EEF1F5"/>
          </a:solidFill>
          <a:ln>
            <a:solidFill>
              <a:srgbClr val="EEF1F5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 Loader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880360" y="1737360"/>
            <a:ext cx="19659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sx="100000" sy="100000" kx="0" ky="0" algn="bl" rotWithShape="0" blurRad="19050" dist="8890" dir="270000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044952" y="201168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Silver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044952" y="2542032"/>
            <a:ext cx="1600200" cy="1325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Features T0, call insights, taxonomy y feature audit con reglas de calidad.</a:t>
            </a:r>
            <a:endParaRPr lang="en-US" sz="930" dirty="0"/>
          </a:p>
        </p:txBody>
      </p:sp>
      <p:sp>
        <p:nvSpPr>
          <p:cNvPr id="13" name="Text 11"/>
          <p:cNvSpPr/>
          <p:nvPr/>
        </p:nvSpPr>
        <p:spPr>
          <a:xfrm>
            <a:off x="3044952" y="4251960"/>
            <a:ext cx="1234440" cy="237744"/>
          </a:xfrm>
          <a:prstGeom prst="rect">
            <a:avLst/>
          </a:prstGeom>
          <a:solidFill>
            <a:srgbClr val="EEF1F5"/>
          </a:solidFill>
          <a:ln>
            <a:solidFill>
              <a:srgbClr val="EEF1F5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DLT / Quality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166360" y="1737360"/>
            <a:ext cx="1965960" cy="3246120"/>
          </a:xfrm>
          <a:prstGeom prst="rect">
            <a:avLst/>
          </a:prstGeom>
          <a:solidFill>
            <a:srgbClr val="FFF1F2"/>
          </a:solidFill>
          <a:ln w="12700">
            <a:solidFill>
              <a:srgbClr val="D8DEE6"/>
            </a:solidFill>
          </a:ln>
          <a:effectLst>
            <a:outerShdw sx="100000" sy="100000" kx="0" ky="0" algn="bl" rotWithShape="0" blurRad="19050" dist="8890" dir="270000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330952" y="201168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719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Gold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5330952" y="2542032"/>
            <a:ext cx="1600200" cy="1325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Scores A/B, deciles, SHAP, candidatos y bitácora HITL.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330952" y="4251960"/>
            <a:ext cx="1234440" cy="237744"/>
          </a:xfrm>
          <a:prstGeom prst="rect">
            <a:avLst/>
          </a:prstGeom>
          <a:solidFill>
            <a:srgbClr val="FDECEC"/>
          </a:solidFill>
          <a:ln>
            <a:solidFill>
              <a:srgbClr val="FDEC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Registry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7452360" y="1737360"/>
            <a:ext cx="19659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sx="100000" sy="100000" kx="0" ky="0" algn="bl" rotWithShape="0" blurRad="19050" dist="8890" dir="270000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616952" y="201168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Agents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7616952" y="2542032"/>
            <a:ext cx="1600200" cy="1325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LangGraph + FastMCP consumen activos gobernados y generan acciones.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7616952" y="4251960"/>
            <a:ext cx="1234440" cy="237744"/>
          </a:xfrm>
          <a:prstGeom prst="rect">
            <a:avLst/>
          </a:prstGeom>
          <a:solidFill>
            <a:srgbClr val="EEF1F5"/>
          </a:solidFill>
          <a:ln>
            <a:solidFill>
              <a:srgbClr val="EEF1F5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HITL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738360" y="1737360"/>
            <a:ext cx="19659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sx="100000" sy="100000" kx="0" ky="0" algn="bl" rotWithShape="0" blurRad="19050" dist="8890" dir="270000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902952" y="201168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Monitor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9902952" y="2542032"/>
            <a:ext cx="1600200" cy="1325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PSI, Concept Drift, Lift@10, override humano, latencia y schema errors.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9902952" y="4251960"/>
            <a:ext cx="1234440" cy="237744"/>
          </a:xfrm>
          <a:prstGeom prst="rect">
            <a:avLst/>
          </a:prstGeom>
          <a:solidFill>
            <a:srgbClr val="EEF1F5"/>
          </a:solidFill>
          <a:ln>
            <a:solidFill>
              <a:srgbClr val="EEF1F5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Lakehouse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77240" y="5486400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Workflows diario 02:00 AM: ingesta → curaduría → scoring Spark → orquestación → routing a CRM / supervisor</a:t>
            </a:r>
            <a:endParaRPr lang="en-US" sz="14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D87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320040" cy="256032"/>
          </a:xfrm>
          <a:prstGeom prst="rect">
            <a:avLst/>
          </a:prstGeom>
          <a:solidFill>
            <a:srgbClr val="D71920"/>
          </a:solidFill>
          <a:ln>
            <a:solidFill>
              <a:srgbClr val="D7192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68680" y="320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0972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Conclusión: una arquitectura para escuchar, predecir y gobernar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2252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66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solución transforma señales dispersas en decisiones de retención medibles y auditables.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94360" y="1508760"/>
            <a:ext cx="516636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>
            <a:outerShdw sx="100000" sy="100000" kx="0" ky="0" algn="bl" rotWithShape="0" blurRad="19050" dist="8890" dir="270000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14400" y="18105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queda demostrado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240280"/>
            <a:ext cx="4480560" cy="2240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13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Intención no sustituye churn: existe Silent Churn Gap.
</a:t>
            </a:r>
            <a:endParaRPr lang="en-US" sz="1130" dirty="0"/>
          </a:p>
          <a:p>
            <a:r>
              <a:rPr lang="en-US" sz="113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Modelo A y B resuelven dos necesidades complementarias.
</a:t>
            </a:r>
            <a:endParaRPr lang="en-US" sz="1130" dirty="0"/>
          </a:p>
          <a:p>
            <a:r>
              <a:rPr lang="en-US" sz="113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NLP y SHAP convergen en patrones de precio y experiencia técnica.
</a:t>
            </a:r>
            <a:endParaRPr lang="en-US" sz="1130" dirty="0"/>
          </a:p>
          <a:p>
            <a:r>
              <a:rPr lang="en-US" sz="113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sistema multi-agente no ejecuta libremente: gobierna con HITL.
</a:t>
            </a:r>
            <a:endParaRPr lang="en-US" sz="1130" dirty="0"/>
          </a:p>
          <a:p>
            <a:r>
              <a:rPr lang="en-US" sz="113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ROI se calcula con tasa empírica por decil y escenarios de uplift.
</a:t>
            </a:r>
            <a:endParaRPr lang="en-US" sz="1130" dirty="0"/>
          </a:p>
        </p:txBody>
      </p:sp>
      <p:sp>
        <p:nvSpPr>
          <p:cNvPr id="9" name="Text 7"/>
          <p:cNvSpPr/>
          <p:nvPr/>
        </p:nvSpPr>
        <p:spPr>
          <a:xfrm>
            <a:off x="6080760" y="1508760"/>
            <a:ext cx="5349240" cy="4434840"/>
          </a:xfrm>
          <a:prstGeom prst="rect">
            <a:avLst/>
          </a:prstGeom>
          <a:solidFill>
            <a:srgbClr val="FFF1F2"/>
          </a:solidFill>
          <a:ln w="12700">
            <a:solidFill>
              <a:srgbClr val="D8DEE6"/>
            </a:solidFill>
          </a:ln>
          <a:effectLst>
            <a:outerShdw sx="100000" sy="100000" kx="0" ky="0" algn="bl" rotWithShape="0" blurRad="19050" dist="8890" dir="2700000">
              <a:srgbClr val="000000">
                <a:alpha val="11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00800" y="1810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Frase de cierre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6400800" y="2212848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“No se trata de automatizar descuentos; se trata de decidir mejor cuándo intervenir, con qué acción y bajo qué control.”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400800" y="3840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5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Paquete de evidencia</a:t>
            </a:r>
            <a:endParaRPr lang="en-US" sz="980" dirty="0"/>
          </a:p>
        </p:txBody>
      </p:sp>
      <p:sp>
        <p:nvSpPr>
          <p:cNvPr id="13" name="Text 11"/>
          <p:cNvSpPr/>
          <p:nvPr/>
        </p:nvSpPr>
        <p:spPr>
          <a:xfrm>
            <a:off x="6400800" y="416052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Repositorio público, 21/21 tests PASS, deck, guion, matriz ROI, blueprint Databricks y código fuente de respaldo.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0" y="5166360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719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Escuchar → Predecir → Explicar → Gobernar → Medir valor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D87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Claro Colombia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Multi-Agente y Modelado Dual para Retención de Clientes Hogar</dc:title>
  <dc:subject>Sustentación técnica Claro Colombia - Orquestador de Agentes IA/ML</dc:subject>
  <dc:creator>Neydher Antonio Martin Ramos</dc:creator>
  <cp:lastModifiedBy>Neydher Antonio Martin Ramos</cp:lastModifiedBy>
  <cp:revision>1</cp:revision>
  <dcterms:created xsi:type="dcterms:W3CDTF">2026-09-13T15:51:12Z</dcterms:created>
  <dcterms:modified xsi:type="dcterms:W3CDTF">2026-09-13T15:51:12Z</dcterms:modified>
</cp:coreProperties>
</file>