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A291C"/>
                </a:solidFill>
              </a:defRPr>
            </a:pPr>
            <a:r>
              <a:t>PROCESO DE SELECCIÓN — GERENCIA DE ANALÍTICA AVANZADA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Sistema Multi-Agente y Modelado Dual para Retención de Clientes Hogar</a:t>
            </a:r>
          </a:p>
          <a:p>
            <a:pPr>
              <a:spcAft>
                <a:spcPts val="3600"/>
              </a:spcAft>
              <a:defRPr sz="1600">
                <a:solidFill>
                  <a:srgbClr val="CBD5E1"/>
                </a:solidFill>
              </a:defRPr>
            </a:pPr>
            <a:r>
              <a:t>Detección Temprana, Explicabilidad Causal (NLP + SHAP) y Orquestación Autónoma con Supervisión Humana (HITL)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Candidato: Neydher Antonio Martin Ramos  |  Evaluador: Rafael José Del Castillo Pavajeau</a:t>
            </a:r>
            <a:br/>
            <a:r>
              <a:t>Rol: Orquestador de Agentes de IA / Machine Learning  |  Fecha: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PUNTO DE PARTIDA DEL NEGOCIO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El Diagnóstico y el Hallazgo Oculto: 'Silent Churn Gap'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2/11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Radiografía del Cluster 3 (20.000 Abonados Hogar)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0F172A"/>
                </a:solidFill>
              </a:rPr>
              <a:t>Alta Concentración de Valor: </a:t>
            </a:r>
            <a:r>
              <a:rPr>
                <a:solidFill>
                  <a:srgbClr val="475569"/>
                </a:solidFill>
              </a:rPr>
              <a:t>ARPU medio de $96.447 COP y percentil 75 en $109.840 COP. Masa de facturación anual de ~$23.140 Millones COP.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0F172A"/>
                </a:solidFill>
              </a:rPr>
              <a:t>Baja Prevalencia Global de Churn: </a:t>
            </a:r>
            <a:r>
              <a:rPr>
                <a:solidFill>
                  <a:srgbClr val="475569"/>
                </a:solidFill>
              </a:rPr>
              <a:t>Solo el 0.52% (104 clientes) cancelaron formalmente. Sin embargo, el 19.91% (3.981 clientes) registraron intención de retiro.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0F172A"/>
                </a:solidFill>
              </a:rPr>
              <a:t>Falsa Equivalencia Tradicional: </a:t>
            </a:r>
            <a:r>
              <a:rPr>
                <a:solidFill>
                  <a:srgbClr val="475569"/>
                </a:solidFill>
              </a:rPr>
              <a:t>En la industria suele asumirse que quien tiene intención es quien deserta. Los datos demuestran lo contrario: son poblaciones con dinámicas distintas.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A291C"/>
                </a:solidFill>
              </a:defRPr>
            </a:pPr>
            <a:r>
              <a:t>El 'Silent Churn Gap': 52 / 52 (Fuga No Detectada)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0F172A"/>
                </a:solidFill>
              </a:rPr>
              <a:t>50% de Churners Sin Intención Previa: </a:t>
            </a:r>
            <a:r>
              <a:rPr>
                <a:solidFill>
                  <a:srgbClr val="475569"/>
                </a:solidFill>
              </a:rPr>
              <a:t>Exactamente 52 de los 104 desertores NUNCA llamaron a radicar intención de cancelación. Se marcharon en silencio.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0F172A"/>
                </a:solidFill>
              </a:rPr>
              <a:t>El Punto Ciego de la Operación: </a:t>
            </a:r>
            <a:r>
              <a:rPr>
                <a:solidFill>
                  <a:srgbClr val="475569"/>
                </a:solidFill>
              </a:rPr>
              <a:t>Si Claro solo interviene la cola de llamadas de cancelación (Call Center de Retención), el 50% de la fuga es 100% invisible para el negocio.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0F172A"/>
                </a:solidFill>
              </a:rPr>
              <a:t>Implicación Estratégica Ineludible: </a:t>
            </a:r>
            <a:r>
              <a:rPr>
                <a:solidFill>
                  <a:srgbClr val="475569"/>
                </a:solidFill>
              </a:rPr>
              <a:t>Se requieren DOS MODELOS ESPECIALIZADOS: uno para capturar la deserción silenciosa (Modelo A) y otro para contener la intención explícita (Modelo 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INTELIGENCIA SEMÁNTICA NO ESTRUCTURADA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Voz del Cliente (VoC): Evidencia Estructurada de 500 Llamadas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3/11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Taxonomía Congelada &amp; Procesamiento Robusto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Procesamiento Masivo y Blindado: </a:t>
            </a:r>
            <a:r>
              <a:rPr>
                <a:solidFill>
                  <a:srgbClr val="475569"/>
                </a:solidFill>
              </a:rPr>
              <a:t>500 llamadas analizadas con 0 errores Pydantic. Taxonomía cerrada de 6 macro-motivos y 24 sub-motivos con spans de evidencia exacta.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Dominancia de Falla Técnica: </a:t>
            </a:r>
            <a:r>
              <a:rPr>
                <a:solidFill>
                  <a:srgbClr val="475569"/>
                </a:solidFill>
              </a:rPr>
              <a:t>El 40.4% de las quejas corresponden a problemas de internet, lentitud y microcortes de red.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Contraste Radical vs Otros Clusters: </a:t>
            </a:r>
            <a:r>
              <a:rPr>
                <a:solidFill>
                  <a:srgbClr val="475569"/>
                </a:solidFill>
              </a:rPr>
              <a:t>Cluster 3 exhibe 2.3 veces más reclamos técnicos que los clusters 1 y 2, y un 35% más menciones de demora en visitas.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Causalidad Descubierta: </a:t>
            </a:r>
            <a:r>
              <a:rPr>
                <a:solidFill>
                  <a:srgbClr val="475569"/>
                </a:solidFill>
              </a:rPr>
              <a:t>Los clientes no desertan por falta de ofertas comerciales; desertan porque el internet falla y la visita técnica se demora.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lp_cluster3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846320" cy="17308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DISEÑO DE MACHINE LEARNING ORIENTADO AL PROBLEMA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Arquitectura Predictiva Dual: Separando Fuga de Intención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4/11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A291C"/>
                </a:solidFill>
              </a:defRPr>
            </a:pPr>
            <a:r>
              <a:t>MODELO A: Churn Efectivo Real (BAN_CHURN)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Naturaleza del Target: </a:t>
            </a:r>
            <a:r>
              <a:rPr>
                <a:solidFill>
                  <a:srgbClr val="475569"/>
                </a:solidFill>
              </a:rPr>
              <a:t>Evento terminal real (Desconexión definitiva del servicio en facturación). Prevalencia: 0.52% (Aguja en un pajar).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Estrategia Algorítmica: </a:t>
            </a:r>
            <a:r>
              <a:rPr>
                <a:solidFill>
                  <a:srgbClr val="475569"/>
                </a:solidFill>
              </a:rPr>
              <a:t>LightGBM con árboles deliberadamente compactos (max_depth=3, num_leaves=7) y scale_pos_weight dinámico para no memorizar ruido.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Validación Blindada: </a:t>
            </a:r>
            <a:r>
              <a:rPr>
                <a:solidFill>
                  <a:srgbClr val="475569"/>
                </a:solidFill>
              </a:rPr>
              <a:t>RepeatedStratifiedKFold (4 splits x 5 repeats = 20 evaluaciones independientes) + Holdout ciego.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Misión Operativa: </a:t>
            </a:r>
            <a:r>
              <a:rPr>
                <a:solidFill>
                  <a:srgbClr val="475569"/>
                </a:solidFill>
              </a:rPr>
              <a:t>Detectar la deserción silenciosa y alimentar campañas preventivas en planta externa y fidelización técnica.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2563EB"/>
                </a:solidFill>
              </a:defRPr>
            </a:pPr>
            <a:r>
              <a:t>MODELO B: Intención de Cancelación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Naturaleza del Target: </a:t>
            </a:r>
            <a:r>
              <a:rPr>
                <a:solidFill>
                  <a:srgbClr val="475569"/>
                </a:solidFill>
              </a:rPr>
              <a:t>Intención manifiesta radicada por el cliente (`BAN_INTENCION_CANCELACION`). Prevalencia: 19.91% (Alta densidad).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Estrategia Algorítmica: </a:t>
            </a:r>
            <a:r>
              <a:rPr>
                <a:solidFill>
                  <a:srgbClr val="475569"/>
                </a:solidFill>
              </a:rPr>
              <a:t>LightGBM con mayor capacidad de partición (max_depth=4, num_leaves=15, learning_rate=0.03).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Validación Metodológica: </a:t>
            </a:r>
            <a:r>
              <a:rPr>
                <a:solidFill>
                  <a:srgbClr val="475569"/>
                </a:solidFill>
              </a:rPr>
              <a:t>StratifiedKFold (5 splits balanceados) + Holdout ciego de 4.000 clientes.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Misión Operativa: </a:t>
            </a:r>
            <a:r>
              <a:rPr>
                <a:solidFill>
                  <a:srgbClr val="475569"/>
                </a:solidFill>
              </a:rPr>
              <a:t>Priorizar llamadas entrantes en Call Center y facultar a los asesores de primera línea con ofertas comerciales retenedoras.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HONESTIDAD ESTADÍSTICA Y MÉTRICAS HOLDOUT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Rigor Metodológico: Cero Fuga T0 y Lift@10 = 9.05x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5/11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Auditoría de Fuga T0 &amp; Métricas con Bootstrap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Descarte Riguroso de Fugas T0: </a:t>
            </a:r>
            <a:r>
              <a:rPr>
                <a:solidFill>
                  <a:srgbClr val="475569"/>
                </a:solidFill>
              </a:rPr>
              <a:t>Se identificaron y eliminaron variables espurias como `ESTADO_FUENTE_C` (proxy de liquidación), `VAL_SALDO_ACTUAL` (saldo en 0) y `BAN_OT_CERRADAS_DX` (orden de desconexión). Cero datos futuros.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Modelo A (Churn 0.52%): </a:t>
            </a:r>
            <a:r>
              <a:rPr>
                <a:solidFill>
                  <a:srgbClr val="475569"/>
                </a:solidFill>
              </a:rPr>
              <a:t>Lift@10 en Holdout: 9.048x (IC 95%: [7.619 - 10.000x]). En el top 10% de clientes contactados se captura el 90.5% del churn total. ROC-AUC: 0.9569, PR-AUC: 0.4738.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Modelo B (Intención 19.9%): </a:t>
            </a:r>
            <a:r>
              <a:rPr>
                <a:solidFill>
                  <a:srgbClr val="475569"/>
                </a:solidFill>
              </a:rPr>
              <a:t>Lift@10 en Holdout: 3.812x (IC 95%: [3.603 - 4.034x]). PR-AUC: 0.6278, ROC-AUC: 0.8248.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ft_and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0292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DE LA CORRELACIÓN A LA CAUSA RAÍZ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Explicabilidad y Causalidad: Convergencia de SHAP y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6/11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Convergencia Temática Multimodal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Driver #1: VAL_RECLAMOS_MES: </a:t>
            </a:r>
            <a:r>
              <a:rPr>
                <a:solidFill>
                  <a:srgbClr val="475569"/>
                </a:solidFill>
              </a:rPr>
              <a:t>Cada reclamo mensual dispara exponencialmente el log-odds de deserción en SHAP. Coincide con las quejas de lentitud en NLP.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Driver #2: VELOCIDAD_INTERNET_MBPS: </a:t>
            </a:r>
            <a:r>
              <a:rPr>
                <a:solidFill>
                  <a:srgbClr val="475569"/>
                </a:solidFill>
              </a:rPr>
              <a:t>Clientes con planes &lt;= 50 Mbps sufren una fricción técnica constante, amplificada por el consumo de streaming de los hogares.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Driver #3: VAL_VAR_RENTA &amp; RENTA_ACTUAL: </a:t>
            </a:r>
            <a:r>
              <a:rPr>
                <a:solidFill>
                  <a:srgbClr val="475569"/>
                </a:solidFill>
              </a:rPr>
              <a:t>Incrementos tarifarios no explicados en la factura disparan la fuga de clientes con más de 12 meses de antigüedad.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Conclusión de Causalidad: </a:t>
            </a:r>
            <a:r>
              <a:rPr>
                <a:solidFill>
                  <a:srgbClr val="475569"/>
                </a:solidFill>
              </a:rPr>
              <a:t>El cliente se va por FALLA TÉCNICA persistente. Una rebaja comercial sin solución de red solo retrasa el churn 30 días.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ap_beeswarm_mode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846320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ARQUITECTURA AUTÓNOMA CON SUPERVISIÓN HUMANA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El Sistema Multi-Agente: Orquestación LangGraph con 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7/11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1. Agentes Especialistas</a:t>
            </a:r>
            <a:br/>
            <a:r>
              <a:t>(Paralelismo Seguro)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Customer Intelligence Agent: Ejecuta inferencia dual en milisegundos, asigna deciles y detecta el Silent Churn Pattern.</a:t>
            </a:r>
            <a:br/>
            <a:br/>
            <a:r>
              <a:t>• VoC / NLP Agent: Desacoplado; consulta perfiles de quejas y extrae evidencias semánticas sin cruzar datos ilegalmente.</a:t>
            </a:r>
            <a:br/>
            <a:br/>
            <a:r>
              <a:t>• Estado Reducible: LangGraph combina sus hallazgos en paralelo mediante reducers thread-safe.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2. Orquestador &amp; Juez</a:t>
            </a:r>
            <a:br/>
            <a:r>
              <a:t>(Causalidad y Políticas)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Retention Orchestrator: Cruza causa raíz con el catálogo oficial y computa el ROI con tasa empírica por decil.</a:t>
            </a:r>
            <a:br/>
            <a:br/>
            <a:r>
              <a:t>• Deterministic Judge Agent: Aplica reglas inviolables de negocio. Si el orquestador propone una acción incompatible o fuera de catálogo, rechaza y fuerza una re-planificación con reintento acotado (1 loop).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291C"/>
                </a:solidFill>
              </a:defRPr>
            </a:pPr>
            <a:r>
              <a:t>3. Human-in-the-Loop</a:t>
            </a:r>
            <a:br/>
            <a:r>
              <a:t>(Pausa Activa 'interrupt()')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Checkpoint Nativo: La ejecución se suspende automáticamente si se toca dinero, si el descuento excede el 20%, si es cliente VIP o Silent Churn.</a:t>
            </a:r>
            <a:br/>
            <a:br/>
            <a:r>
              <a:t>• Control Humano: El supervisor de Claro aprueba, ajusta o rechaza en su bandeja.</a:t>
            </a:r>
            <a:br/>
            <a:br/>
            <a:r>
              <a:t>• Resunción Transparente: El grafo se reanuda con el veredicto humano inmutable.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BLINDAJE OPERATIVO Y PROTOCOLO FASTMCP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Gobernanza y Catálogo de Acciones: Coherencia Causal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8/11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Reglas de Gobierno No Negociables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Falla Técnica != Descuento Comercial: </a:t>
            </a:r>
            <a:r>
              <a:rPr>
                <a:solidFill>
                  <a:srgbClr val="475569"/>
                </a:solidFill>
              </a:rPr>
              <a:t>Queda estrictamente prohibido otorgar rebajas de renta si el cliente tiene reclamos de internet sin visita técnica asignada.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Techo Máximo de Descuento: </a:t>
            </a:r>
            <a:r>
              <a:rPr>
                <a:solidFill>
                  <a:srgbClr val="475569"/>
                </a:solidFill>
              </a:rPr>
              <a:t>Ningún agente puede autorizar más del 20% de descuento. Casos superiores activan `senior_review_required = True`.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Duración Acotada: </a:t>
            </a:r>
            <a:r>
              <a:rPr>
                <a:solidFill>
                  <a:srgbClr val="475569"/>
                </a:solidFill>
              </a:rPr>
              <a:t>Máximo 2 meses de descuento temporal condicionado a permanencia. Previene erosión permanente de ARPU.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FastMCP como Protocolo Seguro: </a:t>
            </a:r>
            <a:r>
              <a:rPr>
                <a:solidFill>
                  <a:srgbClr val="475569"/>
                </a:solidFill>
              </a:rPr>
              <a:t>Herramientas expuestas bajo el estándar Model Context Protocol con esquemas fuertemente tipados.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Catálogo Oficial de Acciones Claro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PRIORITY_TECH_VISIT ($35.000 COP): </a:t>
            </a:r>
            <a:r>
              <a:rPr>
                <a:solidFill>
                  <a:srgbClr val="475569"/>
                </a:solidFill>
              </a:rPr>
              <a:t>Visita técnica prioritaria en menos de 24h para certificación de acometida y módem.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SPEED_UPGRADE ($15.000 COP): </a:t>
            </a:r>
            <a:r>
              <a:rPr>
                <a:solidFill>
                  <a:srgbClr val="475569"/>
                </a:solidFill>
              </a:rPr>
              <a:t>Aumento de velocidad (ej. 100 a 200 Mbps) por aprovisionamiento lógico FTTH.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TEMP_RENT_DISCOUNT (10-20%): </a:t>
            </a:r>
            <a:r>
              <a:rPr>
                <a:solidFill>
                  <a:srgbClr val="475569"/>
                </a:solidFill>
              </a:rPr>
              <a:t>Descuento temporal de 2 meses para clientes con shock tarifario o antigüedad &gt; 12 meses.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PREVENTIVE_DIAGNOSTIC ($8.000 COP): </a:t>
            </a:r>
            <a:r>
              <a:rPr>
                <a:solidFill>
                  <a:srgbClr val="475569"/>
                </a:solidFill>
              </a:rPr>
              <a:t>Llamada de fidelización VIP por gestor senior para capturar el Silent Churn.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ABSTAIN_NO_ACTION ($0 COP): </a:t>
            </a:r>
            <a:r>
              <a:rPr>
                <a:solidFill>
                  <a:srgbClr val="475569"/>
                </a:solidFill>
              </a:rPr>
              <a:t>Abstención estratégica en deciles sanos (7-10) para proteger el margen comercial.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JUSTIFICACIÓN ECONÓMICA BASADA EN DECILES EMPÍRICOS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Impacto Financiero y ROI: Escenarios de Uplift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9/11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Ecuación Financiera de Retención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Base Empírica de Riesgo: </a:t>
            </a:r>
            <a:r>
              <a:rPr>
                <a:solidFill>
                  <a:srgbClr val="475569"/>
                </a:solidFill>
              </a:rPr>
              <a:t>No se utiliza la probabilidad bruta inflada por ponderación de clases, sino la tasa empírica observada en Decil 1: 5.19%.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Valor Anual Salvado: </a:t>
            </a:r>
            <a:r>
              <a:rPr>
                <a:solidFill>
                  <a:srgbClr val="475569"/>
                </a:solidFill>
              </a:rPr>
              <a:t>ARPU ($96.447) * 12 meses * P(Churn|Decil 1) * Uplift Incremental.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Costo de Intervención: </a:t>
            </a:r>
            <a:r>
              <a:rPr>
                <a:solidFill>
                  <a:srgbClr val="475569"/>
                </a:solidFill>
              </a:rPr>
              <a:t>Costo Operativo Directo + (ARPU * Descuento % * Meses de Descuento).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Masa Expuesta Decil 1 (2.000 clientes): </a:t>
            </a:r>
            <a:r>
              <a:rPr>
                <a:solidFill>
                  <a:srgbClr val="475569"/>
                </a:solidFill>
              </a:rPr>
              <a:t>$2.314 Millones COP anuales. Con 104 churners naturales esperados (~$120.1 Millones COP en riesgo anual).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Sensibilidad por Escenarios (Uplift Incremental)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1. Conservador (10% Retención Salvada): </a:t>
            </a:r>
            <a:r>
              <a:rPr>
                <a:solidFill>
                  <a:srgbClr val="475569"/>
                </a:solidFill>
              </a:rPr>
              <a:t>10.4 clientes retenidos. Ingreso bruto anual protegido: $12.013.411 COP.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2. Base (20% Retención Salvada): </a:t>
            </a:r>
            <a:r>
              <a:rPr>
                <a:solidFill>
                  <a:srgbClr val="475569"/>
                </a:solidFill>
              </a:rPr>
              <a:t>20.8 clientes retenidos. Ingreso bruto anual protegido: $24.026.821 COP.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3. Optimista (30% Retención Salvada): </a:t>
            </a:r>
            <a:r>
              <a:rPr>
                <a:solidFill>
                  <a:srgbClr val="475569"/>
                </a:solidFill>
              </a:rPr>
              <a:t>31.1 clientes retenidos. Ingreso bruto anual protegido: $36.040.232 COP.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Estrategia Ultra-Selectiva (Top 500 D1): </a:t>
            </a:r>
            <a:r>
              <a:rPr>
                <a:solidFill>
                  <a:srgbClr val="475569"/>
                </a:solidFill>
              </a:rPr>
              <a:t>Concentrando el 65% del churn con costo promedio de $12.500 COP, el Escenario Base genera un ROI neto de +1.92x y protege el margen con total eficiencia operativa.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ARQUITECTURA EMPRESARIAL EN LA NUBE DE CLARO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Blueprint Tecnológico: Industrialización en Azure Databricks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10/11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1. Medallion Delta Lake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Bronze: </a:t>
            </a:r>
            <a:r>
              <a:rPr>
                <a:solidFill>
                  <a:srgbClr val="475569"/>
                </a:solidFill>
              </a:rPr>
              <a:t>Auto Loader ingiere facturación SAP, telemetría OSS de módems y transcripciones de IVR.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Silver: </a:t>
            </a:r>
            <a:r>
              <a:rPr>
                <a:solidFill>
                  <a:srgbClr val="475569"/>
                </a:solidFill>
              </a:rPr>
              <a:t>DLT con expectativas de calidad y validación estricta de fuga T0. Feature Store Customer 360.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Gold: </a:t>
            </a:r>
            <a:r>
              <a:rPr>
                <a:solidFill>
                  <a:srgbClr val="475569"/>
                </a:solidFill>
              </a:rPr>
              <a:t>Deciles de riesgo, recomendaciones y bitácora de auditoría.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4592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A291C"/>
                </a:solidFill>
              </a:defRPr>
            </a:pPr>
            <a:r>
              <a:t>2. MLflow &amp; UC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Model Registry: </a:t>
            </a:r>
            <a:r>
              <a:rPr>
                <a:solidFill>
                  <a:srgbClr val="475569"/>
                </a:solidFill>
              </a:rPr>
              <a:t>Firmas estrictas en Unity Catalog para Modelos A y B.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Lineage End-to-End: </a:t>
            </a:r>
            <a:r>
              <a:rPr>
                <a:solidFill>
                  <a:srgbClr val="475569"/>
                </a:solidFill>
              </a:rPr>
              <a:t>Trazabilidad desde el módem del cliente hasta la decisión de cuadrilla.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Privacidad: </a:t>
            </a:r>
            <a:r>
              <a:rPr>
                <a:solidFill>
                  <a:srgbClr val="475569"/>
                </a:solidFill>
              </a:rPr>
              <a:t>Dynamic Column Masking para Habeas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3. Databricks Workflows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Orquestación DAG: </a:t>
            </a:r>
            <a:r>
              <a:rPr>
                <a:solidFill>
                  <a:srgbClr val="475569"/>
                </a:solidFill>
              </a:rPr>
              <a:t>Disparo programado a las 02:00 AM para scoring distribuido de millones de abonados.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Inferencia Spark: </a:t>
            </a:r>
            <a:r>
              <a:rPr>
                <a:solidFill>
                  <a:srgbClr val="475569"/>
                </a:solidFill>
              </a:rPr>
              <a:t>Cálculo masivo de SHAP y deciles con pyfunc.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Reverse ETL: </a:t>
            </a:r>
            <a:r>
              <a:rPr>
                <a:solidFill>
                  <a:srgbClr val="475569"/>
                </a:solidFill>
              </a:rPr>
              <a:t>Sincronización hacia Salesforce y Siebel.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64592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4. Observabilidad MLOps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Lakehouse Monitoring: </a:t>
            </a:r>
            <a:r>
              <a:rPr>
                <a:solidFill>
                  <a:srgbClr val="475569"/>
                </a:solidFill>
              </a:rPr>
              <a:t>Alerta semanal de Data Drift (PSI &gt; 0.15) en variables SHAP críticas.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Concept Drift: </a:t>
            </a:r>
            <a:r>
              <a:rPr>
                <a:solidFill>
                  <a:srgbClr val="475569"/>
                </a:solidFill>
              </a:rPr>
              <a:t>Evaluación mensual de degradación de PR-AUC.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0F172A"/>
                </a:solidFill>
              </a:rPr>
              <a:t>HITL Metrics: </a:t>
            </a:r>
            <a:r>
              <a:rPr>
                <a:solidFill>
                  <a:srgbClr val="475569"/>
                </a:solidFill>
              </a:rPr>
              <a:t>Supervisión de latencia p95 (&lt;750ms) y tasa de override.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A291C"/>
                </a:solidFill>
              </a:defRPr>
            </a:pPr>
            <a:r>
              <a:t>CIERRE ESTRATÉGICO DE LA SUSTENTACIÓN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Conclusión Ejecutiva y Hoja de Ruta: Por qué esta Solución Transforma a Claro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Claro Colombia | Gerencia de Analítica Avanzada — Sustentación Orquestador de Agentes IA | Slide 11/11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Diferenciadores Técnicos y de Negocio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Honestidad Estadística Absoluta: </a:t>
            </a:r>
            <a:r>
              <a:rPr>
                <a:solidFill>
                  <a:srgbClr val="475569"/>
                </a:solidFill>
              </a:rPr>
              <a:t>Sin trucos de data leakage T0. Modelos validados con 20 evaluaciones cruzadas, Lift de 9.05x y estimación económica basada en deciles reales.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Superación del Enfoque Reactivo: </a:t>
            </a:r>
            <a:r>
              <a:rPr>
                <a:solidFill>
                  <a:srgbClr val="475569"/>
                </a:solidFill>
              </a:rPr>
              <a:t>Se descubrió y resolvió el 'Silent Churn Gap', blindando el 50% de las bajas que antes se perdían sin previo aviso.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Gobernanza Causal Estricta: </a:t>
            </a:r>
            <a:r>
              <a:rPr>
                <a:solidFill>
                  <a:srgbClr val="475569"/>
                </a:solidFill>
              </a:rPr>
              <a:t>El sistema no regala dinero corporativo: asigna soluciones de ingeniería a problemas técnicos y ofertas comerciales a presiones tarifarias.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Diseño Industrial Ready: </a:t>
            </a:r>
            <a:r>
              <a:rPr>
                <a:solidFill>
                  <a:srgbClr val="475569"/>
                </a:solidFill>
              </a:rPr>
              <a:t>Arquitectura lista para desplegar en Azure Databricks con gobierno Unity Catalog y protocolo FastMCP.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291C"/>
                </a:solidFill>
              </a:defRPr>
            </a:pPr>
            <a:r>
              <a:t>Hoja de Ruta de Implementación (90 Días)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Mes 1: Shadow Ingestion en Databricks: </a:t>
            </a:r>
            <a:r>
              <a:rPr>
                <a:solidFill>
                  <a:srgbClr val="475569"/>
                </a:solidFill>
              </a:rPr>
              <a:t>Conexión de tablas Delta Bronze/Silver, registro de Modelos A y B en MLflow y pipeline de scoring silencioso diario.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Mes 2: Despliegue de la Bandeja HITL: </a:t>
            </a:r>
            <a:r>
              <a:rPr>
                <a:solidFill>
                  <a:srgbClr val="475569"/>
                </a:solidFill>
              </a:rPr>
              <a:t>Lanzamiento de Databricks App para la mesa de supervisores senior de Claro en Cluster 3. Auditoría de feedback.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Mes 3: Piloto A/B en Cuadrillas Técnicas: </a:t>
            </a:r>
            <a:r>
              <a:rPr>
                <a:solidFill>
                  <a:srgbClr val="475569"/>
                </a:solidFill>
              </a:rPr>
              <a:t>Despacho automatizado de visitas prioritarias y upgrades de velocidad vs grupo de control tradicional. Medición de retención real a 60 días.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Compromiso Personal: </a:t>
            </a:r>
            <a:r>
              <a:rPr>
                <a:solidFill>
                  <a:srgbClr val="475569"/>
                </a:solidFill>
              </a:rPr>
              <a:t>Liderar con rigor analítico, transparencia metodológica y enfoque implacable en valor de negocio para Claro Colombia.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