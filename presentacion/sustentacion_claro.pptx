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Churners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DA5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3C5-4BFE-81AE-793863028F91}"/>
              </c:ext>
            </c:extLst>
          </c:dPt>
          <c:dPt>
            <c:idx val="1"/>
            <c:bubble3D val="0"/>
            <c:spPr>
              <a:solidFill>
                <a:srgbClr val="FAA4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C5-4BFE-81AE-793863028F91}"/>
              </c:ext>
            </c:extLst>
          </c:dPt>
          <c:cat>
            <c:strRef>
              <c:f>Sheet1!$A$2:$A$3</c:f>
              <c:strCache>
                <c:ptCount val="2"/>
                <c:pt idx="0">
                  <c:v>Con intención previa</c:v>
                </c:pt>
                <c:pt idx="1">
                  <c:v>Sin intención registrada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3C5-4BFE-81AE-793863028F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6297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Abrir con el propósito: este no es un modelo aislado ni un chatbot. Es un sistema para escuchar, predecir, explicar, gobernar y medir valor en Cluster 3.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Dedicar esta lámina al insight principal. La frase central: intención y churn no son equivalentes; por eso el modelado dual no es opcional.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Reforzar que se procesaron las 500 llamadas, no sólo Cluster 3. La comparación es lo que da valor: Cluster 3 tiene más negatividad y urgencia crítica.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Defender el control T0. Punto clave: el equipo detectó leakage real y lo removió, por eso las métricas posteriores son más creíbles.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Si preguntan por robustez: 20 evaluaciones CV, holdout blindado y bootstrap. No se usa accuracy porque con 0.52% churn sería engañosa.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Evitar decir causalidad. Usar: convergencia, evidencia, drivers del modelo, hipótesis operativa. SHAP explica el modelo; no prueba causalidad.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Explicar que los modelos predicen, pero no gobiernan decisiones. La capa agéntica agrega contexto, reglas y pausas humanas antes de decisiones sensibles.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Esta lámina prueba madurez: el agente no tiene libertad comercial. Hay catálogo, costos, umbrales y supervisión.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Usar esta versión corregida: ROI neto +1.50x para Top 500 con costo $12.500. Si preguntan, diferenciar retorno bruto/costo de ROI neto.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No vender como despliegue ya productivo. Decir: núcleo funcional implementado, blueprint de industrialización propuesto.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Cerrar con seguridad. No prometer producción real; decir que se implementó el núcleo funcional y se dejó el patrón industrial para Databricks.
[Sources]
- Artefactos del repositorio entregado: metricas_modelos.json, resumen_voz_cliente.json, shap_drivers.json, matriz_accionables_roi.md, databricks_blueprint.md.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9728"/>
            <a:ext cx="12191695" cy="0"/>
          </a:xfrm>
          <a:prstGeom prst="line">
            <a:avLst/>
          </a:prstGeom>
          <a:noFill/>
          <a:ln w="381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4754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7D87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Claro Colombia | Gerencia de Analítica Avanzada | Uso Interno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7315200" y="6446520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80" dirty="0">
                <a:solidFill>
                  <a:srgbClr val="7D87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Neydher Antonio Martin Ramos | Septiembre 2026</a:t>
            </a:r>
            <a:endParaRPr lang="en-US" sz="5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9728"/>
            <a:ext cx="12191695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 DE SELECCIÓN · GERENCIA DE ANALÍTICA AVANZADA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9144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 Multi-Agente y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Modelado Dual para Retención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Clientes Hogar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88036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Detección temprana, explicación del riesgo y orquestación gobernada con Human-in-the-Loop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13232" y="3429000"/>
            <a:ext cx="1965960" cy="237744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Claro Colombia · Cluster 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852928" y="3429000"/>
            <a:ext cx="1234440" cy="237744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23/23 tests PASS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251960" y="3429000"/>
            <a:ext cx="1188720" cy="237744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Repositorio GitHub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3232" y="4650000"/>
            <a:ext cx="680000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50"/>
              </a:spcAft>
              <a:buNone/>
            </a:pPr>
            <a:r>
              <a:rPr sz="850" b="1">
                <a:solidFill>
                  <a:srgbClr val="0F172A"/>
                </a:solidFill>
                <a:latin typeface="Aptos"/>
              </a:rPr>
              <a:t>Orquestación:</a:t>
            </a:r>
            <a:r>
              <a:rPr sz="850" b="0">
                <a:solidFill>
                  <a:srgbClr val="475569"/>
                </a:solidFill>
                <a:latin typeface="Aptos"/>
              </a:rPr>
              <a:t> Neydher Antonio Martin Ramos (Lead AI Orchestrator &amp; HITL)</a:t>
            </a:r>
            <a:endParaRPr lang="en-US" sz="850" dirty="0"/>
          </a:p>
          <a:p>
            <a:pPr>
              <a:spcAft>
                <a:spcPts val="250"/>
              </a:spcAft>
            </a:pPr>
            <a:r>
              <a:rPr sz="850" b="1">
                <a:solidFill>
                  <a:srgbClr val="0F172A"/>
                </a:solidFill>
                <a:latin typeface="Aptos"/>
              </a:rPr>
              <a:t>Evaluador:</a:t>
            </a:r>
            <a:r>
              <a:rPr sz="850" b="0">
                <a:solidFill>
                  <a:srgbClr val="475569"/>
                </a:solidFill>
                <a:latin typeface="Aptos"/>
              </a:rPr>
              <a:t> Rafael José Del Castillo Pavajeau (Gerencia Analítica Avanzada)</a:t>
            </a:r>
          </a:p>
          <a:p>
            <a:pPr>
              <a:spcAft>
                <a:spcPts val="250"/>
              </a:spcAft>
            </a:pPr>
            <a:r>
              <a:rPr sz="850" b="1">
                <a:solidFill>
                  <a:srgbClr val="0F172A"/>
                </a:solidFill>
                <a:latin typeface="Aptos"/>
              </a:rPr>
              <a:t>Challenger Agent:</a:t>
            </a:r>
            <a:r>
              <a:rPr sz="850" b="0">
                <a:solidFill>
                  <a:srgbClr val="475569"/>
                </a:solidFill>
                <a:latin typeface="Aptos"/>
              </a:rPr>
              <a:t> ChatGPT — GPT-5.6 Sol (OpenAI) | Auditoría de Gates y Red Teaming</a:t>
            </a:r>
          </a:p>
          <a:p>
            <a:pPr>
              <a:spcAft>
                <a:spcPts val="250"/>
              </a:spcAft>
            </a:pPr>
            <a:r>
              <a:rPr sz="850" b="1">
                <a:solidFill>
                  <a:srgbClr val="0F172A"/>
                </a:solidFill>
                <a:latin typeface="Aptos"/>
              </a:rPr>
              <a:t>Execution Agent:</a:t>
            </a:r>
            <a:r>
              <a:rPr sz="850" b="0">
                <a:solidFill>
                  <a:srgbClr val="475569"/>
                </a:solidFill>
                <a:latin typeface="Aptos"/>
              </a:rPr>
              <a:t> Gemini Flash 3.8 (Google / Antigravity) | ML &amp; Agentic Engineering</a:t>
            </a:r>
          </a:p>
          <a:p>
            <a:pPr>
              <a:spcAft>
                <a:spcPts val="250"/>
              </a:spcAft>
            </a:pPr>
            <a:r>
              <a:rPr sz="850" b="1">
                <a:solidFill>
                  <a:srgbClr val="0F172A"/>
                </a:solidFill>
                <a:latin typeface="Aptos"/>
              </a:rPr>
              <a:t>Fecha:</a:t>
            </a:r>
            <a:r>
              <a:rPr sz="850" b="0">
                <a:solidFill>
                  <a:srgbClr val="475569"/>
                </a:solidFill>
                <a:latin typeface="Aptos"/>
              </a:rPr>
              <a:t> Septiembre 2026</a:t>
            </a:r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0" y="50749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500000" y="1325880"/>
            <a:ext cx="4000000" cy="475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47472" rIns="320040" bIns="274320" rtlCol="0" anchor="ctr"/>
          <a:lstStyle/>
          <a:p>
            <a:pPr algn="ctr">
              <a:spcAft>
                <a:spcPts val="1400"/>
              </a:spcAft>
            </a:pPr>
            <a:r>
              <a:rPr sz="1100" b="1">
                <a:solidFill>
                  <a:srgbClr val="D71920"/>
                </a:solidFill>
                <a:latin typeface="Aptos"/>
              </a:rPr>
              <a:t>TESIS ESTRATÉGICA</a:t>
            </a:r>
          </a:p>
          <a:p>
            <a:pPr>
              <a:spcAft>
                <a:spcPts val="1800"/>
              </a:spcAft>
            </a:pPr>
            <a:r>
              <a:rPr sz="1300" b="1">
                <a:solidFill>
                  <a:srgbClr val="0F172A"/>
                </a:solidFill>
                <a:latin typeface="Aptos"/>
              </a:rPr>
              <a:t>«No basta con retener al cliente que llama a cancelar. El sistema debe detectar también la fuga silenciosa y gobernar la acción correcta.»</a:t>
            </a:r>
          </a:p>
          <a:p>
            <a:pPr>
              <a:spcAft>
                <a:spcPts val="1200"/>
              </a:spcAft>
            </a:pPr>
            <a:r>
              <a:rPr sz="900" b="1">
                <a:solidFill>
                  <a:srgbClr val="64748B"/>
                </a:solidFill>
                <a:latin typeface="Aptos"/>
              </a:rPr>
              <a:t>PILARES CLAVE DE LA SOLUCIÓN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ptos"/>
              </a:rPr>
              <a:t>• 50% Fuga Silenciosa: </a:t>
            </a:r>
            <a:r>
              <a:rPr sz="900" b="0">
                <a:solidFill>
                  <a:srgbClr val="64748B"/>
                </a:solidFill>
                <a:latin typeface="Aptos"/>
              </a:rPr>
              <a:t>52 de 104 cancelaciones reales nunca llamaron a manifestar intención previa.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ptos"/>
              </a:rPr>
              <a:t>• Lift@10 = 9.05x: </a:t>
            </a:r>
            <a:r>
              <a:rPr sz="900" b="0">
                <a:solidFill>
                  <a:srgbClr val="64748B"/>
                </a:solidFill>
                <a:latin typeface="Aptos"/>
              </a:rPr>
              <a:t>El Modelo A concentra el riesgo 9 veces por encima del azar en el Decil 1 prioritario.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ptos"/>
              </a:rPr>
              <a:t>• ROI Neto +1.50x: </a:t>
            </a:r>
            <a:r>
              <a:rPr sz="900" b="0">
                <a:solidFill>
                  <a:srgbClr val="64748B"/>
                </a:solidFill>
                <a:latin typeface="Aptos"/>
              </a:rPr>
              <a:t>Triaje selectivo en Top 500 protege $15.6M COP con $6.25M COP de inversión.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00000" y="1325880"/>
            <a:ext cx="4000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CENTRAL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Silent Churn Gap: intención no equivale a churn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los 104 desertores reales, 52 no registraron intención previa.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48006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960120" y="1965960"/>
          <a:ext cx="242316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3429000" y="1920240"/>
            <a:ext cx="141732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104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429000" y="2403043"/>
            <a:ext cx="1417320" cy="4526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churns reales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observados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3429000" y="3063240"/>
            <a:ext cx="141732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429000" y="3480206"/>
            <a:ext cx="1417320" cy="39090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intención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previa</a:t>
            </a:r>
            <a:endParaRPr lang="en-US" sz="880" dirty="0"/>
          </a:p>
        </p:txBody>
      </p:sp>
      <p:sp>
        <p:nvSpPr>
          <p:cNvPr id="12" name="Text 9"/>
          <p:cNvSpPr/>
          <p:nvPr/>
        </p:nvSpPr>
        <p:spPr>
          <a:xfrm>
            <a:off x="3429000" y="4069080"/>
            <a:ext cx="141732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5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429000" y="4486046"/>
            <a:ext cx="1417320" cy="39090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intención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registrada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5715000" y="1600200"/>
            <a:ext cx="58064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080760" y="1901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Implicación de negocio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2331720"/>
            <a:ext cx="480060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25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estrategia basada sólo en llamadas de cancelación deja fuera 50% del churn observado.
</a:t>
            </a:r>
            <a:endParaRPr lang="en-US" sz="1250" dirty="0"/>
          </a:p>
          <a:p>
            <a:r>
              <a:rPr lang="en-US" sz="12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B detecta intención explícita y ayuda a intervenir temprano.
</a:t>
            </a:r>
            <a:endParaRPr lang="en-US" sz="1250" dirty="0"/>
          </a:p>
          <a:p>
            <a:r>
              <a:rPr lang="en-US" sz="12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A captura fuga efectiva, incluyendo patrones silenciosos.
</a:t>
            </a:r>
            <a:endParaRPr lang="en-US" sz="1250" dirty="0"/>
          </a:p>
          <a:p>
            <a:r>
              <a:rPr lang="en-US" sz="12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orquestador decide la acción y activa revisión humana cuando existe riesgo financiero o evidencia insuficiente.
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080760" y="4800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Clave Estratégico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80760" y="5074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modelos no son sobre-ingeniería: responden a dos rutas distintas de fuga.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VOZ DEL CLIENTE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VoC: 500 llamadas procesadas y contraste real de Cluster 3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voz del cliente no se une 1:1 con clientes; se usa a nivel clúster y arquetipos.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38862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Cluster 3 · motivos dominantes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3154680" cy="274320"/>
          </a:xfrm>
          <a:prstGeom prst="rect">
            <a:avLst/>
          </a:prstGeom>
          <a:solidFill>
            <a:srgbClr val="FDECEC"/>
          </a:solidFill>
          <a:ln w="6350">
            <a:solidFill>
              <a:srgbClr val="FAD2D5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 y competencia  ·  37.54%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660904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técnica  ·  24.60%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081528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Mudanza y traslado  ·  19.09%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3502152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UNRESOLVED  ·  9.39%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3922776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Facturación y cobros  ·  8.74%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4892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Contraste vs. otros clústeres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51389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+4.18 pp falla técnica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+7.44 pp sentimiento negativo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+5.09 pp urgencia crítica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09160" y="1508760"/>
            <a:ext cx="672084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0" descr="/mnt/data/sol_audit/code/outputs/figures/nlp_cluster3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478677"/>
            <a:ext cx="6217920" cy="222068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83480" y="544068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real exportada del pipeline NLP: outputs/figures/nlp_cluster3_contrast.png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ESTRATEGIA PREDICTIVA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Modelado dual con control estricto de fuga T0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108 variables predictoras ex-ante; targets, leakage y post-treatment excluidos del entrenamiento.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2578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A · BAN_CHURN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 final de fuga efectiva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43434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Prevalencia: 0.52% (104 casos).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RepeatedStratifiedKFold: 4 folds x 5 repeats.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Optimización por PR-AUC y lectura ejecutiva por Lift@10/20.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 fuga silenciosa no observable desde llamadas de intención.
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14400" y="4353985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B · BAN_INTENCION_CANCELACION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7365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 operacional temprana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42976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85000" lnSpcReduction="20000"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Prevalencia: 19.91%.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5-Fold Stratified CV.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priorizar prevención y atención temprana.
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6172200" y="1508760"/>
            <a:ext cx="52578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0" y="1810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Auditoría T0 / Leakage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8E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108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00800" y="2724912"/>
            <a:ext cx="14630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predictoras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legítimas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8092440" y="22860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1.000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092440" y="2724912"/>
            <a:ext cx="18288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correlación detectada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ESTADO_FUENTE_C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10058400" y="22860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8E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0058400" y="2724912"/>
            <a:ext cx="12344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con leakage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conocido al final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492240" y="36576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excluidas del baseline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92240" y="3977640"/>
            <a:ext cx="4389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leakage: motivos/intenciones/reincidencias y ESTADO_FUENTE_C.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Post-treatment: retención activa, campañas, OT de desconexión.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Identifiers y variables temporalmente inciertas.
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RIGOR ESTADÍSTICO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ranking concentra el riesgo: Lift@10 = 9.05x en churn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optimiza accuracy; se evalúa capacidad de priorizar los clientes de mayor riesgo.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49377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Métricas Holdout final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160520" cy="256032"/>
          </a:xfrm>
          <a:prstGeom prst="rect">
            <a:avLst/>
          </a:prstGeom>
          <a:solidFill>
            <a:srgbClr val="152033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       PR-AUC     Lift@10     ROC-AUC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4160520" cy="274320"/>
          </a:xfrm>
          <a:prstGeom prst="rect">
            <a:avLst/>
          </a:prstGeom>
          <a:solidFill>
            <a:srgbClr val="FFF7F7"/>
          </a:solidFill>
          <a:ln w="6350">
            <a:solidFill>
              <a:srgbClr val="FAD2D5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Churn     0.4738     9.048x      0.9569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2990088"/>
            <a:ext cx="416052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Intención 0.6278     3.812x      0.8248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ejecutiva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41605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A: identifica una población prioritaria 9 veces más densa en churn que el promedio.
</a:t>
            </a:r>
            <a:endParaRPr lang="en-US" sz="1050" dirty="0"/>
          </a:p>
          <a:p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B: detecta señales explícitas de intención para intervención temprana.
</a:t>
            </a:r>
            <a:endParaRPr lang="en-US" sz="1050" dirty="0"/>
          </a:p>
          <a:p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Bootstrap IC 95% incluido para reconocer incertidumbre estadística.
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760720" y="1508760"/>
            <a:ext cx="56692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Image 0" descr="/mnt/data/sol_audit/code/outputs/figures/lift_and_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537460"/>
            <a:ext cx="5257800" cy="21031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989320" y="54406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real: outputs/figures/lift_and_pr_curves.png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EXPLICABILIDAD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Convergencia de evidencia: SHAP + Voz del Cliente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afirma causalidad; se construyen hipótesis operativas soportadas por dos fuentes independientes.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Drivers Modelo A · Churn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23774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VAL_RECLAMOS_MES
</a:t>
            </a:r>
            <a:endParaRPr lang="en-US" sz="1150" dirty="0"/>
          </a:p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VELOCIDAD_INTERNET_MBPS
</a:t>
            </a:r>
            <a:endParaRPr lang="en-US" sz="1150" dirty="0"/>
          </a:p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VAL_RENTA_ACTUAL
</a:t>
            </a:r>
            <a:endParaRPr lang="en-US" sz="1150" dirty="0"/>
          </a:p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VAL_VAR_RENTA
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dijo VoC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3611880"/>
            <a:ext cx="35661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 / competencia: 37.54%.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técnica: 24.60%.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Mayor negatividad y urgencia crítica en Cluster 3.
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914400" y="4892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 defendible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5166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fuentes no se cruzan 1:1, pero convergen en patrones de precio y experiencia técnica.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40680" y="1508760"/>
            <a:ext cx="598932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Image 0" descr="/mnt/data/sol_audit/code/outputs/figures/shap_beeswarm_model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19072"/>
            <a:ext cx="3950208" cy="3703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69280" y="565099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real: outputs/figures/shap_beeswarm_model_a.png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ORQUESTACIÓN MULTI-AGENTE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LangGraph convierte evidencia analítica en decisión gobernada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agentes consumen activos ya validados: no reentrenan modelos ni reprocesan llamadas.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205740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039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Intelligence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Scores A/B, deciles, SHAP local y patrón de riesgo.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850392" y="4160520"/>
            <a:ext cx="105156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54680" y="1691640"/>
            <a:ext cx="205740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1927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1927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de voz del cliente a nivel Cluster 3/arquetipo.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3319272" y="4160520"/>
            <a:ext cx="105156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23560" y="1691640"/>
            <a:ext cx="205740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78815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Retention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Orchestrator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8815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 acción del catálogo y calcula impacto esperado.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5788152" y="4160520"/>
            <a:ext cx="105156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092440" y="1691640"/>
            <a:ext cx="2057400" cy="2971800"/>
          </a:xfrm>
          <a:prstGeom prst="rect">
            <a:avLst/>
          </a:prstGeom>
          <a:solidFill>
            <a:srgbClr val="FFF1F2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703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HITL /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Judge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reglas, retry máximo 1 y revisión humana.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8257032" y="4160520"/>
            <a:ext cx="1051560" cy="237744"/>
          </a:xfrm>
          <a:prstGeom prst="rect">
            <a:avLst/>
          </a:prstGeom>
          <a:solidFill>
            <a:srgbClr val="FDECEC"/>
          </a:solidFill>
          <a:ln>
            <a:solidFill>
              <a:srgbClr val="FDECEC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GOBIERNO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" y="5257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StateGraph: validate → parallel agents → merge evidence → orchestrate → guardrails → judge → HITL/finalize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60520" y="5715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t>18/18 pruebas de Gate 3 + 23/23 suite final PASS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GOBERNANZA DE ACCIONES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recomendación no es “descontar”: es elegir la acción correcta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evita canibalizar margen cuando la causa dominante es técnica.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34924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no negociables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3891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Financieras o contractuales: siempre HITL.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VIP en deciles 1–2: siempre HITL.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Silent Churn Pattern: revisión humana obligatoria.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Descuento &gt;20%: Senior Review.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técnica pura: visita prioritaria sin descuento forzado.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insuficiente: abstención.
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914400" y="4983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Principio de gobierno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Falla técnica ≠ rebaja comercial automática.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63640" y="1508760"/>
            <a:ext cx="51663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8368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Catálogo de acciones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240280"/>
            <a:ext cx="4251960" cy="237744"/>
          </a:xfrm>
          <a:prstGeom prst="rect">
            <a:avLst/>
          </a:prstGeom>
          <a:solidFill>
            <a:srgbClr val="152033"/>
          </a:solidFill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Acción · costo · uso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6583680" y="2542032"/>
            <a:ext cx="4251960" cy="256032"/>
          </a:xfrm>
          <a:prstGeom prst="rect">
            <a:avLst/>
          </a:prstGeom>
          <a:solidFill>
            <a:srgbClr val="F8FAFC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PRIORITY_TECH_VISIT · $35k · Red / reclamos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6583680" y="2834640"/>
            <a:ext cx="42519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SPEED_UPGRADE · $15k · Baja velocidad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6583680" y="3127248"/>
            <a:ext cx="4251960" cy="256032"/>
          </a:xfrm>
          <a:prstGeom prst="rect">
            <a:avLst/>
          </a:prstGeom>
          <a:solidFill>
            <a:srgbClr val="F8FAFC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TEMP_RENT_DISCOUNT · 10–20% · Precio · HITL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6583680" y="3419856"/>
            <a:ext cx="42519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LOYALTY_BONUS · $22k · Caza oferta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6583680" y="3712464"/>
            <a:ext cx="4251960" cy="256032"/>
          </a:xfrm>
          <a:prstGeom prst="rect">
            <a:avLst/>
          </a:prstGeom>
          <a:solidFill>
            <a:srgbClr val="F8FAFC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PREVENTIVE_DIAGNOSTIC · $8k · Silent churn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6583680" y="4005072"/>
            <a:ext cx="42519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ABSTAIN_NO_ACTION · $0 · Riesgo bajo</a:t>
            </a:r>
            <a:endParaRPr lang="en-US" sz="740" dirty="0"/>
          </a:p>
        </p:txBody>
      </p:sp>
      <p:sp>
        <p:nvSpPr>
          <p:cNvPr id="20" name="Text 18"/>
          <p:cNvSpPr/>
          <p:nvPr/>
        </p:nvSpPr>
        <p:spPr>
          <a:xfrm>
            <a:off x="6583680" y="480060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acciones fuera de catálogo se bloquean o escalan.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ECONÓMICO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ROI: cálculo por tasa empírica de decil, no probabilidad cruda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evita usar scores no calibrados de LightGBM como probabilidad financiera.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1663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Decil 1 · universo focalizado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2,000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68680" y="2770632"/>
            <a:ext cx="13716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en top 10%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riesgo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2514600" y="23317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5.19%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2770632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tasa empírica de churn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Decil 1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4343400" y="23317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$96k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343400" y="2770632"/>
            <a:ext cx="11430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ARPU promedio</a:t>
            </a:r>
            <a:endParaRPr lang="en-US" sz="880" dirty="0"/>
          </a:p>
          <a:p>
            <a:pPr marL="0" indent="0" algn="ctr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mensual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914400" y="3749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Escenario base de uplift incremental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4041648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20.8 clientes salvados → $24.0M COP anuales brutos protegidos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49834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efectividad se presenta como escenario, no como resultado observado.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080760" y="1508760"/>
            <a:ext cx="534924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8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Triaje selectivo Top 500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331720"/>
            <a:ext cx="42519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 promedio: $12,500 / cliente</a:t>
            </a:r>
            <a:endParaRPr lang="en-US" sz="940" dirty="0"/>
          </a:p>
        </p:txBody>
      </p:sp>
      <p:sp>
        <p:nvSpPr>
          <p:cNvPr id="20" name="Text 18"/>
          <p:cNvSpPr/>
          <p:nvPr/>
        </p:nvSpPr>
        <p:spPr>
          <a:xfrm>
            <a:off x="6400800" y="2697480"/>
            <a:ext cx="42519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Inversión Top 500: $6.25M COP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6400800" y="3063240"/>
            <a:ext cx="42519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 bruto salvado base: $15.62M COP</a:t>
            </a:r>
            <a:endParaRPr lang="en-US" sz="940" dirty="0"/>
          </a:p>
        </p:txBody>
      </p:sp>
      <p:sp>
        <p:nvSpPr>
          <p:cNvPr id="22" name="Text 20"/>
          <p:cNvSpPr/>
          <p:nvPr/>
        </p:nvSpPr>
        <p:spPr>
          <a:xfrm>
            <a:off x="6400800" y="3429000"/>
            <a:ext cx="42519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neto: $9.37M COP</a:t>
            </a:r>
            <a:endParaRPr lang="en-US" sz="940" dirty="0"/>
          </a:p>
        </p:txBody>
      </p:sp>
      <p:sp>
        <p:nvSpPr>
          <p:cNvPr id="23" name="Text 21"/>
          <p:cNvSpPr/>
          <p:nvPr/>
        </p:nvSpPr>
        <p:spPr>
          <a:xfrm>
            <a:off x="6400800" y="3794760"/>
            <a:ext cx="4251960" cy="292608"/>
          </a:xfrm>
          <a:prstGeom prst="rect">
            <a:avLst/>
          </a:prstGeom>
          <a:solidFill>
            <a:srgbClr val="FDECEC"/>
          </a:solidFill>
          <a:ln w="6350">
            <a:solidFill>
              <a:srgbClr val="FAD2D5"/>
            </a:solidFill>
          </a:ln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94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 neto: +1.50x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6400800" y="47091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financiero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0" y="49834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valor no está en intervenir masivamente, sino en reducir costo promedio con decisiones de triaje.</a:t>
            </a:r>
            <a:endParaRPr lang="en-US" sz="128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PRODUCTIVIZACIÓN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Blueprint en Azure Databricks: del prototipo a operación industrial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Lake, MLflow, Unity Catalog, Workflows y monitoreo de drift/modelos/agentes.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8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Bronze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58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Clientes, llamadas y diccionario en Delta raw con batch_id y hash de fuente.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758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Loader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880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044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Silver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044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T0, call insights, taxonomy y feature audit con reglas de calidad.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3044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DLT / Quality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166360" y="1737360"/>
            <a:ext cx="1965960" cy="3246120"/>
          </a:xfrm>
          <a:prstGeom prst="rect">
            <a:avLst/>
          </a:prstGeom>
          <a:solidFill>
            <a:srgbClr val="FFF1F2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330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Gold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330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Scores A/B, deciles, SHAP, candidatos y bitácora HITL.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330952" y="4251960"/>
            <a:ext cx="1234440" cy="237744"/>
          </a:xfrm>
          <a:prstGeom prst="rect">
            <a:avLst/>
          </a:prstGeom>
          <a:solidFill>
            <a:srgbClr val="FDECEC"/>
          </a:solidFill>
          <a:ln>
            <a:solidFill>
              <a:srgbClr val="FDECEC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Registry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452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616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616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LangGraph + FastMCP consumen activos gobernados y generan acciones.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7616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738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02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902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PSI, Concept Drift, Lift@10, override humano, latencia y schema errors.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9902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Lakehouse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77240" y="548640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Workflows diario 02:00 AM: ingesta → curaduría → scoring Spark → orquestación → routing a CRM / supervisor</a:t>
            </a:r>
            <a:endParaRPr lang="en-US" sz="143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Conclusión: una arquitectura para escuchar, predecir y gobernar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solución transforma señales dispersas en decisiones de retención medibles y auditables.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1663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queda demostrado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4805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Intención no sustituye churn: existe Silent Churn Gap.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A y B resuelven dos necesidades complementarias.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NLP y SHAP convergen en patrones de precio y experiencia técnica.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multi-agente no ejecuta libremente: gobierna con HITL.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 se calcula con tasa empírica por decil y escenarios de uplift.
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6080760" y="1508760"/>
            <a:ext cx="5349240" cy="4434840"/>
          </a:xfrm>
          <a:prstGeom prst="rect">
            <a:avLst/>
          </a:prstGeom>
          <a:solidFill>
            <a:srgbClr val="FFF1F2"/>
          </a:solidFill>
          <a:ln w="12700">
            <a:solidFill>
              <a:srgbClr val="D8DEE6"/>
            </a:solidFill>
          </a:ln>
          <a:effectLst>
            <a:outerShdw blurRad="19050" dist="8890" dir="2700000" algn="bl" rotWithShape="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00800" y="1810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 de cierre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00800" y="2212848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“No se trata de automatizar descuentos; se trata de decidir mejor cuándo intervenir, con qué acción y bajo qué control.”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Paquete de evidencia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6400800" y="416052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Repositorio oficial en GitHub, 23/23 tests PASS, deck, guion, matriz ROI, blueprint Databricks y código fuente de respaldo.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516636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Escuchar → Predecir → Explicar → Gobernar → Medir valor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2386</Words>
  <Application>Microsoft Office PowerPoint</Application>
  <PresentationFormat>Panorámica</PresentationFormat>
  <Paragraphs>249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Claro Colombia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Multi-Agente y Modelado Dual para Retención de Clientes Hogar</dc:title>
  <dc:subject>Sustentación técnica Claro Colombia - Orquestador de Agentes IA/ML</dc:subject>
  <dc:creator>Neydher Antonio Martin Ramos</dc:creator>
  <cp:lastModifiedBy>Neydher Antonio Martin Ramos</cp:lastModifiedBy>
  <cp:revision>2</cp:revision>
  <dcterms:created xsi:type="dcterms:W3CDTF">2026-09-13T15:51:12Z</dcterms:created>
  <dcterms:modified xsi:type="dcterms:W3CDTF">2026-09-13T17:06:03Z</dcterms:modified>
</cp:coreProperties>
</file>